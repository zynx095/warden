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dentity" id="{49011704-364c-c3b6-33fe-4e6dfe0d5dfe}">
          <p14:sldIdLst>
            <p14:sldId id="256"/>
          </p14:sldIdLst>
        </p14:section>
        <p14:section name="Problem" id="{de9a3145-201b-cfed-fa27-2a543dfa9707}">
          <p14:sldIdLst>
            <p14:sldId id="257"/>
          </p14:sldIdLst>
        </p14:section>
        <p14:section name="Mechanism" id="{289a3562-c6fd-9505-8d66-4e7efd7c50e4}">
          <p14:sldIdLst>
            <p14:sldId id="258"/>
          </p14:sldIdLst>
        </p14:section>
        <p14:section name="Evidence" id="{86114b1c-914b-4454-acea-f7a69c3b4c8f}">
          <p14:sldIdLst>
            <p14:sldId id="259"/>
          </p14:sldIdLst>
        </p14:section>
        <p14:section name="Value" id="{ece58359-93b9-21df-3505-881a1e3391e2}">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WARDEN is a control and verification layer for actions an AI agent proposes. The agent can act, but every action goes through deterministic policy, human approval where needed, a restricted executor and an independent check before it counts as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Capability is not authorization. Left: requests from an agent reach the files with no independent check. Right: a control boundary lets the read and the create through and stops the protected delete. The three risks we design against: unauthorized access, destructive actions, and instructions hidden in untrusted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only proposes. Risk analysis is advice, never authority. The deterministic policy engine is the only component that decides: allow, require approval, or block. Allowed and approved actions run in a restricted executor that only performs supported file operations inside the workspace, and an independent auditor checks the real resulting state before success is reported. Every decision and outcome lands in the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requests from the same agent get different treatment. Inspect and create run and are verified. Reading production.env is blocked by WDN-003 before anything runs. The temporary-file delete waits for approval; nothing happens until we approve the exact action, then it runs and the deletion is verified. The prompt-injection request claims an administrator authorized deleting production.env; the policy still blocks it. Afterwards the audit log shows each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workflow, not a smarter model: deterministic policy and restricted execution enforce the rules, humans approve what needs a human, and verification plus an audit trail show what actually happened. Control does not end when an action is approved; it ends when the outcome is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80B1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80B1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384048"/>
            <a:ext cx="7315200" cy="292608"/>
          </a:xfrm>
          <a:prstGeom prst="rect">
            <a:avLst/>
          </a:prstGeom>
          <a:noFill/>
          <a:ln/>
        </p:spPr>
        <p:txBody>
          <a:bodyPr wrap="square" rtlCol="0"/>
          <a:lstStyle>
            <a:lvl1pPr indent="0" marL="0">
              <a:buNone/>
              <a:defRPr lang="en-US" sz="1200" spc="300" kern="0" dirty="0">
                <a:solidFill>
                  <a:schemeClr val="accent1"/>
                </a:solidFill>
                <a:latin typeface="Consolas" pitchFamily="34" charset="0"/>
                <a:ea typeface="Consolas" pitchFamily="34" charset="-122"/>
                <a:cs typeface="Consolas" pitchFamily="34" charset="-120"/>
              </a:defRPr>
            </a:lvl1pPr>
          </a:lstStyle>
          <a:p>
            <a:pPr indent="0" marL="0">
              <a:buNone/>
            </a:pPr>
            <a:endParaRPr lang="en-US" sz="1200" dirty="0"/>
          </a:p>
        </p:txBody>
      </p:sp>
      <p:sp>
        <p:nvSpPr>
          <p:cNvPr id="3" name="Text 0"/>
          <p:cNvSpPr/>
          <p:nvPr>
            <p:ph idx="101" type="title" hasCustomPrompt="1"/>
          </p:nvPr>
        </p:nvSpPr>
        <p:spPr>
          <a:xfrm>
            <a:off x="640080" y="694944"/>
            <a:ext cx="10881360" cy="713232"/>
          </a:xfrm>
          <a:prstGeom prst="rect">
            <a:avLst/>
          </a:prstGeom>
          <a:noFill/>
          <a:ln/>
        </p:spPr>
        <p:txBody>
          <a:bodyPr wrap="square" rtlCol="0"/>
          <a:lstStyle>
            <a:lvl1pPr algn="l" indent="0" marL="0">
              <a:buNone/>
              <a:defRPr lang="en-US" sz="3200" dirty="0">
                <a:solidFill>
                  <a:schemeClr val="bg1"/>
                </a:solidFill>
                <a:latin typeface="Segoe UI Semibold" pitchFamily="34" charset="0"/>
                <a:ea typeface="Segoe UI Semibold" pitchFamily="34" charset="-122"/>
                <a:cs typeface="Segoe UI Semibold" pitchFamily="34" charset="-120"/>
              </a:defRPr>
            </a:lvl1pPr>
          </a:lstStyle>
          <a:p>
            <a:pPr algn="l" indent="0" marL="0">
              <a:buNone/>
            </a:pPr>
            <a:endParaRPr lang="en-US" sz="3200" dirty="0"/>
          </a:p>
        </p:txBody>
      </p:sp>
      <p:sp>
        <p:nvSpPr>
          <p:cNvPr id="4" name="Text 0"/>
          <p:cNvSpPr/>
          <p:nvPr/>
        </p:nvSpPr>
        <p:spPr>
          <a:xfrm>
            <a:off x="640080" y="6382512"/>
            <a:ext cx="2286000" cy="274320"/>
          </a:xfrm>
          <a:prstGeom prst="rect">
            <a:avLst/>
          </a:prstGeom>
          <a:noFill/>
          <a:ln/>
        </p:spPr>
        <p:txBody>
          <a:bodyPr wrap="square" lIns="0" tIns="0" rIns="0" bIns="0" rtlCol="0" anchor="ctr"/>
          <a:lstStyle/>
          <a:p>
            <a:pPr indent="0" marL="0">
              <a:buNone/>
            </a:pPr>
            <a:r>
              <a:rPr lang="en-US" sz="1000" spc="600" kern="0" dirty="0">
                <a:solidFill>
                  <a:schemeClr val="bg2"/>
                </a:solidFill>
                <a:latin typeface="Consolas" pitchFamily="34" charset="0"/>
                <a:ea typeface="Consolas" pitchFamily="34" charset="-122"/>
                <a:cs typeface="Consolas" pitchFamily="34" charset="-120"/>
              </a:rPr>
              <a:t>WARDEN</a:t>
            </a:r>
            <a:endParaRPr lang="en-US" sz="1000" dirty="0"/>
          </a:p>
        </p:txBody>
      </p:sp>
      <p:sp>
        <p:nvSpPr>
          <p:cNvPr id="25" name="Slide Number Placeholder 0"/>
          <p:cNvSpPr>
            <a:spLocks noGrp="1"/>
          </p:cNvSpPr>
          <p:nvPr>
            <p:ph type="sldNum" sz="quarter" idx="4294967295"/>
          </p:nvPr>
        </p:nvSpPr>
        <p:spPr>
          <a:xfrm>
            <a:off x="1106424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slideLayout" Target="../slideLayouts/slideLayout3.xml"/><Relationship Id="rId1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3.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 luminous shield boundary: incoming action paths either pass to the core, are intercepted, or wait for a human">    </p:cNvPr>
          <p:cNvPicPr>
            <a:picLocks noChangeAspect="1"/>
          </p:cNvPicPr>
          <p:nvPr/>
        </p:nvPicPr>
        <p:blipFill>
          <a:blip r:embed="rId2"/>
          <a:stretch>
            <a:fillRect/>
          </a:stretch>
        </p:blipFill>
        <p:spPr>
          <a:xfrm>
            <a:off x="5074920" y="320040"/>
            <a:ext cx="7114032" cy="6739128"/>
          </a:xfrm>
          <a:prstGeom prst="rect">
            <a:avLst/>
          </a:prstGeom>
        </p:spPr>
      </p:pic>
      <p:sp>
        <p:nvSpPr>
          <p:cNvPr id="3" name="Text 0"/>
          <p:cNvSpPr txBox="1"/>
          <p:nvPr/>
        </p:nvSpPr>
        <p:spPr>
          <a:xfrm>
            <a:off x="777240" y="1234440"/>
            <a:ext cx="5486400" cy="274320"/>
          </a:xfrm>
          <a:prstGeom prst="rect">
            <a:avLst/>
          </a:prstGeom>
          <a:noFill/>
          <a:ln/>
        </p:spPr>
        <p:txBody>
          <a:bodyPr wrap="square" lIns="0" tIns="0" rIns="0" bIns="0" rtlCol="0" anchor="ctr"/>
          <a:lstStyle/>
          <a:p>
            <a:pPr indent="0" marL="0">
              <a:buNone/>
            </a:pPr>
            <a:r>
              <a:rPr lang="en-US" sz="1200" spc="300" kern="0" dirty="0">
                <a:solidFill>
                  <a:srgbClr val="52E5FF"/>
                </a:solidFill>
                <a:latin typeface="Consolas" pitchFamily="34" charset="0"/>
                <a:ea typeface="Consolas" pitchFamily="34" charset="-122"/>
                <a:cs typeface="Consolas" pitchFamily="34" charset="-120"/>
              </a:rPr>
              <a:t>FETCH-A-THON 3.0  ·  ASI:ONE AGENT CHALLENGE</a:t>
            </a:r>
            <a:endParaRPr lang="en-US" sz="1200" dirty="0"/>
          </a:p>
        </p:txBody>
      </p:sp>
      <p:sp>
        <p:nvSpPr>
          <p:cNvPr id="4" name="Title"/>
          <p:cNvSpPr txBox="1"/>
          <p:nvPr/>
        </p:nvSpPr>
        <p:spPr>
          <a:xfrm>
            <a:off x="713232" y="1600200"/>
            <a:ext cx="6035040" cy="1600200"/>
          </a:xfrm>
          <a:prstGeom prst="rect">
            <a:avLst/>
          </a:prstGeom>
          <a:noFill/>
          <a:ln/>
        </p:spPr>
        <p:txBody>
          <a:bodyPr wrap="square" lIns="0" tIns="0" rIns="0" bIns="0" rtlCol="0" anchor="ctr"/>
          <a:lstStyle/>
          <a:p>
            <a:pPr indent="0" marL="0">
              <a:buNone/>
            </a:pPr>
            <a:r>
              <a:rPr lang="en-US" sz="10000" spc="1000" kern="0" dirty="0">
                <a:solidFill>
                  <a:srgbClr val="F3F7FC"/>
                </a:solidFill>
                <a:latin typeface="Bahnschrift SemiBold" pitchFamily="34" charset="0"/>
                <a:ea typeface="Bahnschrift SemiBold" pitchFamily="34" charset="-122"/>
                <a:cs typeface="Bahnschrift SemiBold" pitchFamily="34" charset="-120"/>
              </a:rPr>
              <a:t>WARDEN</a:t>
            </a:r>
            <a:endParaRPr lang="en-US" sz="10000" dirty="0"/>
          </a:p>
        </p:txBody>
      </p:sp>
      <p:sp>
        <p:nvSpPr>
          <p:cNvPr id="5" name="Text 2"/>
          <p:cNvSpPr txBox="1"/>
          <p:nvPr/>
        </p:nvSpPr>
        <p:spPr>
          <a:xfrm>
            <a:off x="777240" y="3291840"/>
            <a:ext cx="5669280" cy="868680"/>
          </a:xfrm>
          <a:prstGeom prst="rect">
            <a:avLst/>
          </a:prstGeom>
          <a:noFill/>
          <a:ln/>
        </p:spPr>
        <p:txBody>
          <a:bodyPr wrap="square" lIns="0" tIns="0" rIns="0" bIns="0" rtlCol="0" anchor="t"/>
          <a:lstStyle/>
          <a:p>
            <a:pPr indent="0" marL="0">
              <a:buNone/>
            </a:pPr>
            <a:r>
              <a:rPr lang="en-US" sz="2400" dirty="0">
                <a:solidFill>
                  <a:srgbClr val="F3F7FC"/>
                </a:solidFill>
                <a:latin typeface="Segoe UI Semibold" pitchFamily="34" charset="0"/>
                <a:ea typeface="Segoe UI Semibold" pitchFamily="34" charset="-122"/>
                <a:cs typeface="Segoe UI Semibold" pitchFamily="34" charset="-120"/>
              </a:rPr>
              <a:t>Autonomous Agent Action Control &amp; Verification</a:t>
            </a:r>
            <a:endParaRPr lang="en-US" sz="2400" dirty="0"/>
          </a:p>
        </p:txBody>
      </p:sp>
      <p:sp>
        <p:nvSpPr>
          <p:cNvPr id="6" name="Text 3"/>
          <p:cNvSpPr txBox="1"/>
          <p:nvPr/>
        </p:nvSpPr>
        <p:spPr>
          <a:xfrm>
            <a:off x="777240" y="4206240"/>
            <a:ext cx="5669280" cy="411480"/>
          </a:xfrm>
          <a:prstGeom prst="rect">
            <a:avLst/>
          </a:prstGeom>
          <a:noFill/>
          <a:ln/>
        </p:spPr>
        <p:txBody>
          <a:bodyPr wrap="square" lIns="0" tIns="0" rIns="0" bIns="0" rtlCol="0" anchor="ctr"/>
          <a:lstStyle/>
          <a:p>
            <a:pPr indent="0" marL="0">
              <a:buNone/>
            </a:pPr>
            <a:r>
              <a:rPr lang="en-US" sz="1800" i="1" dirty="0">
                <a:solidFill>
                  <a:srgbClr val="52E5FF"/>
                </a:solidFill>
                <a:latin typeface="Segoe UI" pitchFamily="34" charset="0"/>
                <a:ea typeface="Segoe UI" pitchFamily="34" charset="-122"/>
                <a:cs typeface="Segoe UI" pitchFamily="34" charset="-120"/>
              </a:rPr>
              <a:t>Let agents act. Keep actions accountable.</a:t>
            </a:r>
            <a:endParaRPr lang="en-US" sz="1800" dirty="0"/>
          </a:p>
        </p:txBody>
      </p:sp>
      <p:sp>
        <p:nvSpPr>
          <p:cNvPr id="7" name="Text 4"/>
          <p:cNvSpPr txBox="1"/>
          <p:nvPr/>
        </p:nvSpPr>
        <p:spPr>
          <a:xfrm>
            <a:off x="777240" y="5349240"/>
            <a:ext cx="1828800" cy="256032"/>
          </a:xfrm>
          <a:prstGeom prst="rect">
            <a:avLst/>
          </a:prstGeom>
          <a:noFill/>
          <a:ln/>
        </p:spPr>
        <p:txBody>
          <a:bodyPr wrap="square" lIns="0" tIns="0" rIns="0" bIns="0" rtlCol="0" anchor="ctr"/>
          <a:lstStyle/>
          <a:p>
            <a:pPr indent="0" marL="0">
              <a:buNone/>
            </a:pPr>
            <a:r>
              <a:rPr lang="en-US" sz="1050" spc="400" kern="0" dirty="0">
                <a:solidFill>
                  <a:srgbClr val="8795A8"/>
                </a:solidFill>
                <a:latin typeface="Consolas" pitchFamily="34" charset="0"/>
                <a:ea typeface="Consolas" pitchFamily="34" charset="-122"/>
                <a:cs typeface="Consolas" pitchFamily="34" charset="-120"/>
              </a:rPr>
              <a:t>TEAM</a:t>
            </a:r>
            <a:endParaRPr lang="en-US" sz="1050" dirty="0"/>
          </a:p>
        </p:txBody>
      </p:sp>
      <p:sp>
        <p:nvSpPr>
          <p:cNvPr id="8" name="Text 5"/>
          <p:cNvSpPr txBox="1"/>
          <p:nvPr/>
        </p:nvSpPr>
        <p:spPr>
          <a:xfrm>
            <a:off x="777240" y="5623560"/>
            <a:ext cx="2377440" cy="365760"/>
          </a:xfrm>
          <a:prstGeom prst="rect">
            <a:avLst/>
          </a:prstGeom>
          <a:noFill/>
          <a:ln/>
        </p:spPr>
        <p:txBody>
          <a:bodyPr wrap="square" lIns="0" tIns="0" rIns="0" bIns="0" rtlCol="0" anchor="ctr"/>
          <a:lstStyle/>
          <a:p>
            <a:pPr indent="0" marL="0">
              <a:buNone/>
            </a:pPr>
            <a:r>
              <a:rPr lang="en-US" sz="1600" dirty="0">
                <a:solidFill>
                  <a:srgbClr val="F3F7FC"/>
                </a:solidFill>
                <a:latin typeface="Segoe UI Semibold" pitchFamily="34" charset="0"/>
                <a:ea typeface="Segoe UI Semibold" pitchFamily="34" charset="-122"/>
                <a:cs typeface="Segoe UI Semibold" pitchFamily="34" charset="-120"/>
              </a:rPr>
              <a:t>Yukith M Joseph</a:t>
            </a:r>
            <a:endParaRPr lang="en-US" sz="1600" dirty="0"/>
          </a:p>
        </p:txBody>
      </p:sp>
      <p:sp>
        <p:nvSpPr>
          <p:cNvPr id="9" name="Shape 6"/>
          <p:cNvSpPr/>
          <p:nvPr/>
        </p:nvSpPr>
        <p:spPr>
          <a:xfrm>
            <a:off x="3200400" y="5669280"/>
            <a:ext cx="0" cy="274320"/>
          </a:xfrm>
          <a:prstGeom prst="line">
            <a:avLst/>
          </a:prstGeom>
          <a:noFill/>
          <a:ln w="12700">
            <a:solidFill>
              <a:srgbClr val="26354D"/>
            </a:solidFill>
            <a:prstDash val="solid"/>
          </a:ln>
        </p:spPr>
      </p:sp>
      <p:sp>
        <p:nvSpPr>
          <p:cNvPr id="10" name="Text 7"/>
          <p:cNvSpPr txBox="1"/>
          <p:nvPr/>
        </p:nvSpPr>
        <p:spPr>
          <a:xfrm>
            <a:off x="3429000" y="5623560"/>
            <a:ext cx="2926080" cy="365760"/>
          </a:xfrm>
          <a:prstGeom prst="rect">
            <a:avLst/>
          </a:prstGeom>
          <a:noFill/>
          <a:ln/>
        </p:spPr>
        <p:txBody>
          <a:bodyPr wrap="square" lIns="0" tIns="0" rIns="0" bIns="0" rtlCol="0" anchor="ctr"/>
          <a:lstStyle/>
          <a:p>
            <a:pPr indent="0" marL="0">
              <a:buNone/>
            </a:pPr>
            <a:r>
              <a:rPr lang="en-US" sz="1600" dirty="0">
                <a:solidFill>
                  <a:srgbClr val="F3F7FC"/>
                </a:solidFill>
                <a:latin typeface="Segoe UI Semibold" pitchFamily="34" charset="0"/>
                <a:ea typeface="Segoe UI Semibold" pitchFamily="34" charset="-122"/>
                <a:cs typeface="Segoe UI Semibold" pitchFamily="34" charset="-120"/>
              </a:rPr>
              <a:t>Pranathi Nagabhushana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384048"/>
            <a:ext cx="7315200" cy="292608"/>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nsolas" pitchFamily="34" charset="0"/>
                <a:ea typeface="Consolas" pitchFamily="34" charset="-122"/>
                <a:cs typeface="Consolas" pitchFamily="34" charset="-120"/>
              </a:rPr>
              <a:t>02 · THE PROBLEM</a:t>
            </a:r>
            <a:endParaRPr lang="en-US" sz="1200" dirty="0"/>
          </a:p>
        </p:txBody>
      </p:sp>
      <p:sp>
        <p:nvSpPr>
          <p:cNvPr id="3" name="Text 0"/>
          <p:cNvSpPr/>
          <p:nvPr>
            <p:ph idx="101" type="title" hasCustomPrompt="1"/>
          </p:nvPr>
        </p:nvSpPr>
        <p:spPr>
          <a:xfrm>
            <a:off x="640080" y="694944"/>
            <a:ext cx="10881360" cy="713232"/>
          </a:xfrm>
          <a:prstGeom prst="rect">
            <a:avLst/>
          </a:prstGeom>
          <a:noFill/>
          <a:ln/>
        </p:spPr>
        <p:txBody>
          <a:bodyPr wrap="square" lIns="0" tIns="0" rIns="0" bIns="0" rtlCol="0" anchor="ctr"/>
          <a:lstStyle/>
          <a:p>
            <a:pPr algn="l" indent="0" marL="0">
              <a:buNone/>
            </a:pPr>
            <a:r>
              <a:rPr lang="en-US" sz="3200" dirty="0">
                <a:solidFill>
                  <a:schemeClr val="bg1"/>
                </a:solidFill>
                <a:latin typeface="Segoe UI Semibold" pitchFamily="34" charset="0"/>
                <a:ea typeface="Segoe UI Semibold" pitchFamily="34" charset="-122"/>
                <a:cs typeface="Segoe UI Semibold" pitchFamily="34" charset="-120"/>
              </a:rPr>
              <a:t>An agent can be capable without being authorized</a:t>
            </a:r>
            <a:endParaRPr lang="en-US" sz="3200" dirty="0"/>
          </a:p>
        </p:txBody>
      </p:sp>
      <p:sp>
        <p:nvSpPr>
          <p:cNvPr id="4" name="Without boundary"/>
          <p:cNvSpPr/>
          <p:nvPr/>
        </p:nvSpPr>
        <p:spPr>
          <a:xfrm>
            <a:off x="640080" y="1645920"/>
            <a:ext cx="5349240" cy="3154680"/>
          </a:xfrm>
          <a:prstGeom prst="roundRect">
            <a:avLst>
              <a:gd name="adj" fmla="val 2609"/>
            </a:avLst>
          </a:prstGeom>
          <a:solidFill>
            <a:srgbClr val="0E1522">
              <a:alpha val="85000"/>
            </a:srgbClr>
          </a:solidFill>
          <a:ln w="12700">
            <a:solidFill>
              <a:srgbClr val="26354D"/>
            </a:solidFill>
            <a:prstDash val="solid"/>
          </a:ln>
        </p:spPr>
      </p:sp>
      <p:sp>
        <p:nvSpPr>
          <p:cNvPr id="5" name="Text 3"/>
          <p:cNvSpPr txBox="1"/>
          <p:nvPr/>
        </p:nvSpPr>
        <p:spPr>
          <a:xfrm>
            <a:off x="914400" y="1828800"/>
            <a:ext cx="4114800" cy="256032"/>
          </a:xfrm>
          <a:prstGeom prst="rect">
            <a:avLst/>
          </a:prstGeom>
          <a:noFill/>
          <a:ln/>
        </p:spPr>
        <p:txBody>
          <a:bodyPr wrap="square" lIns="0" tIns="0" rIns="0" bIns="0" rtlCol="0" anchor="ctr"/>
          <a:lstStyle/>
          <a:p>
            <a:pPr indent="0" marL="0">
              <a:buNone/>
            </a:pPr>
            <a:r>
              <a:rPr lang="en-US" sz="1050" spc="300" kern="0" dirty="0">
                <a:solidFill>
                  <a:srgbClr val="8795A8"/>
                </a:solidFill>
                <a:latin typeface="Consolas" pitchFamily="34" charset="0"/>
                <a:ea typeface="Consolas" pitchFamily="34" charset="-122"/>
                <a:cs typeface="Consolas" pitchFamily="34" charset="-120"/>
              </a:rPr>
              <a:t>WITHOUT A CONTROL BOUNDARY</a:t>
            </a:r>
            <a:endParaRPr lang="en-US" sz="1050" dirty="0"/>
          </a:p>
        </p:txBody>
      </p:sp>
      <p:sp>
        <p:nvSpPr>
          <p:cNvPr id="6" name="Shape 4"/>
          <p:cNvSpPr/>
          <p:nvPr/>
        </p:nvSpPr>
        <p:spPr>
          <a:xfrm>
            <a:off x="914400" y="2834640"/>
            <a:ext cx="868680" cy="868680"/>
          </a:xfrm>
          <a:prstGeom prst="ellipse">
            <a:avLst/>
          </a:prstGeom>
          <a:solidFill>
            <a:srgbClr val="F3F7FC">
              <a:alpha val="12000"/>
            </a:srgbClr>
          </a:solidFill>
          <a:ln w="15875">
            <a:solidFill>
              <a:srgbClr val="F3F7FC">
                <a:alpha val="80000"/>
              </a:srgbClr>
            </a:solidFill>
            <a:prstDash val="solid"/>
          </a:ln>
        </p:spPr>
      </p:sp>
      <p:pic>
        <p:nvPicPr>
          <p:cNvPr id="7" name="Image 0" descr="AI agent">    </p:cNvPr>
          <p:cNvPicPr>
            <a:picLocks noChangeAspect="1"/>
          </p:cNvPicPr>
          <p:nvPr/>
        </p:nvPicPr>
        <p:blipFill>
          <a:blip r:embed="rId2"/>
          <a:stretch>
            <a:fillRect/>
          </a:stretch>
        </p:blipFill>
        <p:spPr>
          <a:xfrm>
            <a:off x="1131570" y="3051810"/>
            <a:ext cx="434340" cy="434340"/>
          </a:xfrm>
          <a:prstGeom prst="rect">
            <a:avLst/>
          </a:prstGeom>
        </p:spPr>
      </p:pic>
      <p:sp>
        <p:nvSpPr>
          <p:cNvPr id="8" name="Text 5"/>
          <p:cNvSpPr txBox="1"/>
          <p:nvPr/>
        </p:nvSpPr>
        <p:spPr>
          <a:xfrm>
            <a:off x="777240" y="3767328"/>
            <a:ext cx="1143000" cy="274320"/>
          </a:xfrm>
          <a:prstGeom prst="rect">
            <a:avLst/>
          </a:prstGeom>
          <a:noFill/>
          <a:ln/>
        </p:spPr>
        <p:txBody>
          <a:bodyPr wrap="square" lIns="0" tIns="0" rIns="0" bIns="0" rtlCol="0" anchor="ctr"/>
          <a:lstStyle/>
          <a:p>
            <a:pPr algn="ctr" indent="0" marL="0">
              <a:buNone/>
            </a:pPr>
            <a:r>
              <a:rPr lang="en-US" sz="1200" dirty="0">
                <a:solidFill>
                  <a:srgbClr val="8795A8"/>
                </a:solidFill>
                <a:latin typeface="Segoe UI" pitchFamily="34" charset="0"/>
                <a:ea typeface="Segoe UI" pitchFamily="34" charset="-122"/>
                <a:cs typeface="Segoe UI" pitchFamily="34" charset="-120"/>
              </a:rPr>
              <a:t>AI agent</a:t>
            </a:r>
            <a:endParaRPr lang="en-US" sz="1200" dirty="0"/>
          </a:p>
        </p:txBody>
      </p:sp>
      <p:sp>
        <p:nvSpPr>
          <p:cNvPr id="9" name="Shape 6"/>
          <p:cNvSpPr/>
          <p:nvPr/>
        </p:nvSpPr>
        <p:spPr>
          <a:xfrm flipV="1">
            <a:off x="1783080" y="2560320"/>
            <a:ext cx="274320" cy="708660"/>
          </a:xfrm>
          <a:prstGeom prst="line">
            <a:avLst/>
          </a:prstGeom>
          <a:noFill/>
          <a:ln w="12700">
            <a:solidFill>
              <a:srgbClr val="8795A8">
                <a:alpha val="70000"/>
              </a:srgbClr>
            </a:solidFill>
            <a:prstDash val="solid"/>
          </a:ln>
        </p:spPr>
      </p:sp>
      <p:sp>
        <p:nvSpPr>
          <p:cNvPr id="10" name="Shape 7"/>
          <p:cNvSpPr/>
          <p:nvPr/>
        </p:nvSpPr>
        <p:spPr>
          <a:xfrm>
            <a:off x="2057400" y="2331720"/>
            <a:ext cx="2103120" cy="457200"/>
          </a:xfrm>
          <a:prstGeom prst="roundRect">
            <a:avLst>
              <a:gd name="adj" fmla="val 24000"/>
            </a:avLst>
          </a:prstGeom>
          <a:solidFill>
            <a:srgbClr val="101827"/>
          </a:solidFill>
          <a:ln w="12700">
            <a:solidFill>
              <a:srgbClr val="26354D"/>
            </a:solidFill>
            <a:prstDash val="solid"/>
          </a:ln>
        </p:spPr>
      </p:sp>
      <p:pic>
        <p:nvPicPr>
          <p:cNvPr id="11" name="Image 1" descr="Read project files">    </p:cNvPr>
          <p:cNvPicPr>
            <a:picLocks noChangeAspect="1"/>
          </p:cNvPicPr>
          <p:nvPr/>
        </p:nvPicPr>
        <p:blipFill>
          <a:blip r:embed="rId3"/>
          <a:stretch>
            <a:fillRect/>
          </a:stretch>
        </p:blipFill>
        <p:spPr>
          <a:xfrm>
            <a:off x="2167128" y="2441448"/>
            <a:ext cx="237744" cy="237744"/>
          </a:xfrm>
          <a:prstGeom prst="rect">
            <a:avLst/>
          </a:prstGeom>
        </p:spPr>
      </p:pic>
      <p:sp>
        <p:nvSpPr>
          <p:cNvPr id="12" name="Text 8"/>
          <p:cNvSpPr txBox="1"/>
          <p:nvPr/>
        </p:nvSpPr>
        <p:spPr>
          <a:xfrm>
            <a:off x="2468880" y="2331720"/>
            <a:ext cx="1673352" cy="457200"/>
          </a:xfrm>
          <a:prstGeom prst="rect">
            <a:avLst/>
          </a:prstGeom>
          <a:noFill/>
          <a:ln/>
        </p:spPr>
        <p:txBody>
          <a:bodyPr wrap="square" lIns="0" tIns="0" rIns="0" bIns="0" rtlCol="0" anchor="ctr"/>
          <a:lstStyle/>
          <a:p>
            <a:pPr indent="0" marL="0">
              <a:buNone/>
            </a:pPr>
            <a:r>
              <a:rPr lang="en-US" sz="1200" dirty="0">
                <a:solidFill>
                  <a:srgbClr val="F3F7FC"/>
                </a:solidFill>
                <a:latin typeface="Segoe UI" pitchFamily="34" charset="0"/>
                <a:ea typeface="Segoe UI" pitchFamily="34" charset="-122"/>
                <a:cs typeface="Segoe UI" pitchFamily="34" charset="-120"/>
              </a:rPr>
              <a:t>Read project files</a:t>
            </a:r>
            <a:endParaRPr lang="en-US" sz="1200" dirty="0"/>
          </a:p>
        </p:txBody>
      </p:sp>
      <p:sp>
        <p:nvSpPr>
          <p:cNvPr id="13" name="Shape 9"/>
          <p:cNvSpPr/>
          <p:nvPr/>
        </p:nvSpPr>
        <p:spPr>
          <a:xfrm>
            <a:off x="4160520" y="2560320"/>
            <a:ext cx="594360" cy="91"/>
          </a:xfrm>
          <a:prstGeom prst="line">
            <a:avLst/>
          </a:prstGeom>
          <a:noFill/>
          <a:ln w="19050">
            <a:solidFill>
              <a:srgbClr val="8795A8"/>
            </a:solidFill>
            <a:prstDash val="solid"/>
            <a:tailEnd type="triangle"/>
          </a:ln>
        </p:spPr>
      </p:sp>
      <p:sp>
        <p:nvSpPr>
          <p:cNvPr id="14" name="Shape 10"/>
          <p:cNvSpPr/>
          <p:nvPr/>
        </p:nvSpPr>
        <p:spPr>
          <a:xfrm>
            <a:off x="1783080" y="3268980"/>
            <a:ext cx="274320" cy="68580"/>
          </a:xfrm>
          <a:prstGeom prst="line">
            <a:avLst/>
          </a:prstGeom>
          <a:noFill/>
          <a:ln w="12700">
            <a:solidFill>
              <a:srgbClr val="8795A8">
                <a:alpha val="70000"/>
              </a:srgbClr>
            </a:solidFill>
            <a:prstDash val="solid"/>
          </a:ln>
        </p:spPr>
      </p:sp>
      <p:sp>
        <p:nvSpPr>
          <p:cNvPr id="15" name="Shape 11"/>
          <p:cNvSpPr/>
          <p:nvPr/>
        </p:nvSpPr>
        <p:spPr>
          <a:xfrm>
            <a:off x="2057400" y="3108960"/>
            <a:ext cx="2103120" cy="457200"/>
          </a:xfrm>
          <a:prstGeom prst="roundRect">
            <a:avLst>
              <a:gd name="adj" fmla="val 24000"/>
            </a:avLst>
          </a:prstGeom>
          <a:solidFill>
            <a:srgbClr val="101827"/>
          </a:solidFill>
          <a:ln w="12700">
            <a:solidFill>
              <a:srgbClr val="26354D"/>
            </a:solidFill>
            <a:prstDash val="solid"/>
          </a:ln>
        </p:spPr>
      </p:sp>
      <p:pic>
        <p:nvPicPr>
          <p:cNvPr id="16" name="Image 2" descr="Create release note">    </p:cNvPr>
          <p:cNvPicPr>
            <a:picLocks noChangeAspect="1"/>
          </p:cNvPicPr>
          <p:nvPr/>
        </p:nvPicPr>
        <p:blipFill>
          <a:blip r:embed="rId4"/>
          <a:stretch>
            <a:fillRect/>
          </a:stretch>
        </p:blipFill>
        <p:spPr>
          <a:xfrm>
            <a:off x="2167128" y="3218688"/>
            <a:ext cx="237744" cy="237744"/>
          </a:xfrm>
          <a:prstGeom prst="rect">
            <a:avLst/>
          </a:prstGeom>
        </p:spPr>
      </p:pic>
      <p:sp>
        <p:nvSpPr>
          <p:cNvPr id="17" name="Text 12"/>
          <p:cNvSpPr txBox="1"/>
          <p:nvPr/>
        </p:nvSpPr>
        <p:spPr>
          <a:xfrm>
            <a:off x="2468880" y="3108960"/>
            <a:ext cx="1673352" cy="457200"/>
          </a:xfrm>
          <a:prstGeom prst="rect">
            <a:avLst/>
          </a:prstGeom>
          <a:noFill/>
          <a:ln/>
        </p:spPr>
        <p:txBody>
          <a:bodyPr wrap="square" lIns="0" tIns="0" rIns="0" bIns="0" rtlCol="0" anchor="ctr"/>
          <a:lstStyle/>
          <a:p>
            <a:pPr indent="0" marL="0">
              <a:buNone/>
            </a:pPr>
            <a:r>
              <a:rPr lang="en-US" sz="1200" dirty="0">
                <a:solidFill>
                  <a:srgbClr val="F3F7FC"/>
                </a:solidFill>
                <a:latin typeface="Segoe UI" pitchFamily="34" charset="0"/>
                <a:ea typeface="Segoe UI" pitchFamily="34" charset="-122"/>
                <a:cs typeface="Segoe UI" pitchFamily="34" charset="-120"/>
              </a:rPr>
              <a:t>Create release note</a:t>
            </a:r>
            <a:endParaRPr lang="en-US" sz="1200" dirty="0"/>
          </a:p>
        </p:txBody>
      </p:sp>
      <p:sp>
        <p:nvSpPr>
          <p:cNvPr id="18" name="Shape 13"/>
          <p:cNvSpPr/>
          <p:nvPr/>
        </p:nvSpPr>
        <p:spPr>
          <a:xfrm>
            <a:off x="4160520" y="3337560"/>
            <a:ext cx="594360" cy="91"/>
          </a:xfrm>
          <a:prstGeom prst="line">
            <a:avLst/>
          </a:prstGeom>
          <a:noFill/>
          <a:ln w="19050">
            <a:solidFill>
              <a:srgbClr val="8795A8"/>
            </a:solidFill>
            <a:prstDash val="solid"/>
            <a:tailEnd type="triangle"/>
          </a:ln>
        </p:spPr>
      </p:sp>
      <p:sp>
        <p:nvSpPr>
          <p:cNvPr id="19" name="Shape 14"/>
          <p:cNvSpPr/>
          <p:nvPr/>
        </p:nvSpPr>
        <p:spPr>
          <a:xfrm>
            <a:off x="1783080" y="3268980"/>
            <a:ext cx="274320" cy="845820"/>
          </a:xfrm>
          <a:prstGeom prst="line">
            <a:avLst/>
          </a:prstGeom>
          <a:noFill/>
          <a:ln w="12700">
            <a:solidFill>
              <a:srgbClr val="8795A8">
                <a:alpha val="70000"/>
              </a:srgbClr>
            </a:solidFill>
            <a:prstDash val="solid"/>
          </a:ln>
        </p:spPr>
      </p:sp>
      <p:sp>
        <p:nvSpPr>
          <p:cNvPr id="20" name="Shape 15"/>
          <p:cNvSpPr/>
          <p:nvPr/>
        </p:nvSpPr>
        <p:spPr>
          <a:xfrm>
            <a:off x="2057400" y="3886200"/>
            <a:ext cx="2103120" cy="457200"/>
          </a:xfrm>
          <a:prstGeom prst="roundRect">
            <a:avLst>
              <a:gd name="adj" fmla="val 24000"/>
            </a:avLst>
          </a:prstGeom>
          <a:solidFill>
            <a:srgbClr val="FF5C70">
              <a:alpha val="12000"/>
            </a:srgbClr>
          </a:solidFill>
          <a:ln w="12700">
            <a:solidFill>
              <a:srgbClr val="FF5C70"/>
            </a:solidFill>
            <a:prstDash val="solid"/>
          </a:ln>
        </p:spPr>
      </p:sp>
      <p:pic>
        <p:nvPicPr>
          <p:cNvPr id="21" name="Image 3" descr="Delete protected file">    </p:cNvPr>
          <p:cNvPicPr>
            <a:picLocks noChangeAspect="1"/>
          </p:cNvPicPr>
          <p:nvPr/>
        </p:nvPicPr>
        <p:blipFill>
          <a:blip r:embed="rId5"/>
          <a:stretch>
            <a:fillRect/>
          </a:stretch>
        </p:blipFill>
        <p:spPr>
          <a:xfrm>
            <a:off x="2167128" y="3995928"/>
            <a:ext cx="237744" cy="237744"/>
          </a:xfrm>
          <a:prstGeom prst="rect">
            <a:avLst/>
          </a:prstGeom>
        </p:spPr>
      </p:pic>
      <p:sp>
        <p:nvSpPr>
          <p:cNvPr id="22" name="Text 16"/>
          <p:cNvSpPr txBox="1"/>
          <p:nvPr/>
        </p:nvSpPr>
        <p:spPr>
          <a:xfrm>
            <a:off x="2468880" y="3886200"/>
            <a:ext cx="1673352" cy="457200"/>
          </a:xfrm>
          <a:prstGeom prst="rect">
            <a:avLst/>
          </a:prstGeom>
          <a:noFill/>
          <a:ln/>
        </p:spPr>
        <p:txBody>
          <a:bodyPr wrap="square" lIns="0" tIns="0" rIns="0" bIns="0" rtlCol="0" anchor="ctr"/>
          <a:lstStyle/>
          <a:p>
            <a:pPr indent="0" marL="0">
              <a:buNone/>
            </a:pPr>
            <a:r>
              <a:rPr lang="en-US" sz="1200" dirty="0">
                <a:solidFill>
                  <a:srgbClr val="F3F7FC"/>
                </a:solidFill>
                <a:latin typeface="Segoe UI" pitchFamily="34" charset="0"/>
                <a:ea typeface="Segoe UI" pitchFamily="34" charset="-122"/>
                <a:cs typeface="Segoe UI" pitchFamily="34" charset="-120"/>
              </a:rPr>
              <a:t>Delete protected file</a:t>
            </a:r>
            <a:endParaRPr lang="en-US" sz="1200" dirty="0"/>
          </a:p>
        </p:txBody>
      </p:sp>
      <p:sp>
        <p:nvSpPr>
          <p:cNvPr id="23" name="Shape 17"/>
          <p:cNvSpPr/>
          <p:nvPr/>
        </p:nvSpPr>
        <p:spPr>
          <a:xfrm>
            <a:off x="4160520" y="4114800"/>
            <a:ext cx="594360" cy="91"/>
          </a:xfrm>
          <a:prstGeom prst="line">
            <a:avLst/>
          </a:prstGeom>
          <a:noFill/>
          <a:ln w="25400">
            <a:solidFill>
              <a:srgbClr val="FF5C70"/>
            </a:solidFill>
            <a:prstDash val="solid"/>
            <a:tailEnd type="triangle"/>
          </a:ln>
        </p:spPr>
      </p:sp>
      <p:sp>
        <p:nvSpPr>
          <p:cNvPr id="24" name="Shape 18"/>
          <p:cNvSpPr/>
          <p:nvPr/>
        </p:nvSpPr>
        <p:spPr>
          <a:xfrm>
            <a:off x="4754880" y="2331720"/>
            <a:ext cx="960120" cy="2011680"/>
          </a:xfrm>
          <a:prstGeom prst="roundRect">
            <a:avLst>
              <a:gd name="adj" fmla="val 11429"/>
            </a:avLst>
          </a:prstGeom>
          <a:solidFill>
            <a:srgbClr val="101827"/>
          </a:solidFill>
          <a:ln w="12700">
            <a:solidFill>
              <a:srgbClr val="26354D"/>
            </a:solidFill>
            <a:prstDash val="solid"/>
          </a:ln>
        </p:spPr>
      </p:sp>
      <p:pic>
        <p:nvPicPr>
          <p:cNvPr id="25" name="Image 4" descr="Files">    </p:cNvPr>
          <p:cNvPicPr>
            <a:picLocks noChangeAspect="1"/>
          </p:cNvPicPr>
          <p:nvPr/>
        </p:nvPicPr>
        <p:blipFill>
          <a:blip r:embed="rId6"/>
          <a:stretch>
            <a:fillRect/>
          </a:stretch>
        </p:blipFill>
        <p:spPr>
          <a:xfrm>
            <a:off x="5047488" y="2743200"/>
            <a:ext cx="384048" cy="384048"/>
          </a:xfrm>
          <a:prstGeom prst="rect">
            <a:avLst/>
          </a:prstGeom>
        </p:spPr>
      </p:pic>
      <p:sp>
        <p:nvSpPr>
          <p:cNvPr id="26" name="Text 19"/>
          <p:cNvSpPr txBox="1"/>
          <p:nvPr/>
        </p:nvSpPr>
        <p:spPr>
          <a:xfrm>
            <a:off x="4754880" y="3246120"/>
            <a:ext cx="960120" cy="274320"/>
          </a:xfrm>
          <a:prstGeom prst="rect">
            <a:avLst/>
          </a:prstGeom>
          <a:noFill/>
          <a:ln/>
        </p:spPr>
        <p:txBody>
          <a:bodyPr wrap="square" lIns="0" tIns="0" rIns="0" bIns="0" rtlCol="0" anchor="ctr"/>
          <a:lstStyle/>
          <a:p>
            <a:pPr algn="ctr" indent="0" marL="0">
              <a:buNone/>
            </a:pPr>
            <a:r>
              <a:rPr lang="en-US" sz="1200" dirty="0">
                <a:solidFill>
                  <a:srgbClr val="F3F7FC"/>
                </a:solidFill>
                <a:latin typeface="Segoe UI" pitchFamily="34" charset="0"/>
                <a:ea typeface="Segoe UI" pitchFamily="34" charset="-122"/>
                <a:cs typeface="Segoe UI" pitchFamily="34" charset="-120"/>
              </a:rPr>
              <a:t>Files</a:t>
            </a:r>
            <a:endParaRPr lang="en-US" sz="1200" dirty="0"/>
          </a:p>
        </p:txBody>
      </p:sp>
      <p:sp>
        <p:nvSpPr>
          <p:cNvPr id="27" name="Text 20"/>
          <p:cNvSpPr txBox="1"/>
          <p:nvPr/>
        </p:nvSpPr>
        <p:spPr>
          <a:xfrm>
            <a:off x="3886200" y="4389120"/>
            <a:ext cx="2011680" cy="256032"/>
          </a:xfrm>
          <a:prstGeom prst="rect">
            <a:avLst/>
          </a:prstGeom>
          <a:noFill/>
          <a:ln/>
        </p:spPr>
        <p:txBody>
          <a:bodyPr wrap="square" lIns="0" tIns="0" rIns="0" bIns="0" rtlCol="0" anchor="ctr"/>
          <a:lstStyle/>
          <a:p>
            <a:pPr algn="r" indent="0" marL="0">
              <a:buNone/>
            </a:pPr>
            <a:r>
              <a:rPr lang="en-US" sz="1050" i="1" dirty="0">
                <a:solidFill>
                  <a:srgbClr val="FF5C70"/>
                </a:solidFill>
                <a:latin typeface="Segoe UI" pitchFamily="34" charset="0"/>
                <a:ea typeface="Segoe UI" pitchFamily="34" charset="-122"/>
                <a:cs typeface="Segoe UI" pitchFamily="34" charset="-120"/>
              </a:rPr>
              <a:t>no independent check</a:t>
            </a:r>
            <a:endParaRPr lang="en-US" sz="1050" dirty="0"/>
          </a:p>
        </p:txBody>
      </p:sp>
      <p:sp>
        <p:nvSpPr>
          <p:cNvPr id="28" name="With boundary"/>
          <p:cNvSpPr/>
          <p:nvPr/>
        </p:nvSpPr>
        <p:spPr>
          <a:xfrm>
            <a:off x="6199632" y="1645920"/>
            <a:ext cx="5349240" cy="3154680"/>
          </a:xfrm>
          <a:prstGeom prst="roundRect">
            <a:avLst>
              <a:gd name="adj" fmla="val 2609"/>
            </a:avLst>
          </a:prstGeom>
          <a:solidFill>
            <a:srgbClr val="0E1522">
              <a:alpha val="85000"/>
            </a:srgbClr>
          </a:solidFill>
          <a:ln w="12700">
            <a:solidFill>
              <a:srgbClr val="52E5FF">
                <a:alpha val="45000"/>
              </a:srgbClr>
            </a:solidFill>
            <a:prstDash val="solid"/>
          </a:ln>
        </p:spPr>
      </p:sp>
      <p:sp>
        <p:nvSpPr>
          <p:cNvPr id="29" name="Text 22"/>
          <p:cNvSpPr txBox="1"/>
          <p:nvPr/>
        </p:nvSpPr>
        <p:spPr>
          <a:xfrm>
            <a:off x="6473952" y="1828800"/>
            <a:ext cx="4114800" cy="256032"/>
          </a:xfrm>
          <a:prstGeom prst="rect">
            <a:avLst/>
          </a:prstGeom>
          <a:noFill/>
          <a:ln/>
        </p:spPr>
        <p:txBody>
          <a:bodyPr wrap="square" lIns="0" tIns="0" rIns="0" bIns="0" rtlCol="0" anchor="ctr"/>
          <a:lstStyle/>
          <a:p>
            <a:pPr indent="0" marL="0">
              <a:buNone/>
            </a:pPr>
            <a:r>
              <a:rPr lang="en-US" sz="1050" spc="300" kern="0" dirty="0">
                <a:solidFill>
                  <a:srgbClr val="52E5FF"/>
                </a:solidFill>
                <a:latin typeface="Consolas" pitchFamily="34" charset="0"/>
                <a:ea typeface="Consolas" pitchFamily="34" charset="-122"/>
                <a:cs typeface="Consolas" pitchFamily="34" charset="-120"/>
              </a:rPr>
              <a:t>WITH A CONTROL BOUNDARY</a:t>
            </a:r>
            <a:endParaRPr lang="en-US" sz="1050" dirty="0"/>
          </a:p>
        </p:txBody>
      </p:sp>
      <p:sp>
        <p:nvSpPr>
          <p:cNvPr id="30" name="Shape 23"/>
          <p:cNvSpPr/>
          <p:nvPr/>
        </p:nvSpPr>
        <p:spPr>
          <a:xfrm>
            <a:off x="6473952" y="2834640"/>
            <a:ext cx="868680" cy="868680"/>
          </a:xfrm>
          <a:prstGeom prst="ellipse">
            <a:avLst/>
          </a:prstGeom>
          <a:solidFill>
            <a:srgbClr val="F3F7FC">
              <a:alpha val="12000"/>
            </a:srgbClr>
          </a:solidFill>
          <a:ln w="15875">
            <a:solidFill>
              <a:srgbClr val="F3F7FC">
                <a:alpha val="80000"/>
              </a:srgbClr>
            </a:solidFill>
            <a:prstDash val="solid"/>
          </a:ln>
        </p:spPr>
      </p:sp>
      <p:pic>
        <p:nvPicPr>
          <p:cNvPr id="31" name="Image 5" descr="AI agent">    </p:cNvPr>
          <p:cNvPicPr>
            <a:picLocks noChangeAspect="1"/>
          </p:cNvPicPr>
          <p:nvPr/>
        </p:nvPicPr>
        <p:blipFill>
          <a:blip r:embed="rId7"/>
          <a:stretch>
            <a:fillRect/>
          </a:stretch>
        </p:blipFill>
        <p:spPr>
          <a:xfrm>
            <a:off x="6691122" y="3051810"/>
            <a:ext cx="434340" cy="434340"/>
          </a:xfrm>
          <a:prstGeom prst="rect">
            <a:avLst/>
          </a:prstGeom>
        </p:spPr>
      </p:pic>
      <p:sp>
        <p:nvSpPr>
          <p:cNvPr id="32" name="Text 24"/>
          <p:cNvSpPr txBox="1"/>
          <p:nvPr/>
        </p:nvSpPr>
        <p:spPr>
          <a:xfrm>
            <a:off x="6336792" y="3767328"/>
            <a:ext cx="1143000" cy="274320"/>
          </a:xfrm>
          <a:prstGeom prst="rect">
            <a:avLst/>
          </a:prstGeom>
          <a:noFill/>
          <a:ln/>
        </p:spPr>
        <p:txBody>
          <a:bodyPr wrap="square" lIns="0" tIns="0" rIns="0" bIns="0" rtlCol="0" anchor="ctr"/>
          <a:lstStyle/>
          <a:p>
            <a:pPr algn="ctr" indent="0" marL="0">
              <a:buNone/>
            </a:pPr>
            <a:r>
              <a:rPr lang="en-US" sz="1200" dirty="0">
                <a:solidFill>
                  <a:srgbClr val="8795A8"/>
                </a:solidFill>
                <a:latin typeface="Segoe UI" pitchFamily="34" charset="0"/>
                <a:ea typeface="Segoe UI" pitchFamily="34" charset="-122"/>
                <a:cs typeface="Segoe UI" pitchFamily="34" charset="-120"/>
              </a:rPr>
              <a:t>AI agent</a:t>
            </a:r>
            <a:endParaRPr lang="en-US" sz="1200" dirty="0"/>
          </a:p>
        </p:txBody>
      </p:sp>
      <p:sp>
        <p:nvSpPr>
          <p:cNvPr id="33" name="Shape 25"/>
          <p:cNvSpPr/>
          <p:nvPr/>
        </p:nvSpPr>
        <p:spPr>
          <a:xfrm flipV="1">
            <a:off x="7342632" y="2560320"/>
            <a:ext cx="274320" cy="708660"/>
          </a:xfrm>
          <a:prstGeom prst="line">
            <a:avLst/>
          </a:prstGeom>
          <a:noFill/>
          <a:ln w="12700">
            <a:solidFill>
              <a:srgbClr val="8795A8">
                <a:alpha val="70000"/>
              </a:srgbClr>
            </a:solidFill>
            <a:prstDash val="solid"/>
          </a:ln>
        </p:spPr>
      </p:sp>
      <p:sp>
        <p:nvSpPr>
          <p:cNvPr id="34" name="Shape 26"/>
          <p:cNvSpPr/>
          <p:nvPr/>
        </p:nvSpPr>
        <p:spPr>
          <a:xfrm>
            <a:off x="7616952" y="2331720"/>
            <a:ext cx="2103120" cy="457200"/>
          </a:xfrm>
          <a:prstGeom prst="roundRect">
            <a:avLst>
              <a:gd name="adj" fmla="val 24000"/>
            </a:avLst>
          </a:prstGeom>
          <a:solidFill>
            <a:srgbClr val="101827"/>
          </a:solidFill>
          <a:ln w="12700">
            <a:solidFill>
              <a:srgbClr val="26354D"/>
            </a:solidFill>
            <a:prstDash val="solid"/>
          </a:ln>
        </p:spPr>
      </p:sp>
      <p:pic>
        <p:nvPicPr>
          <p:cNvPr id="35" name="Image 6" descr="Read project files">    </p:cNvPr>
          <p:cNvPicPr>
            <a:picLocks noChangeAspect="1"/>
          </p:cNvPicPr>
          <p:nvPr/>
        </p:nvPicPr>
        <p:blipFill>
          <a:blip r:embed="rId8"/>
          <a:stretch>
            <a:fillRect/>
          </a:stretch>
        </p:blipFill>
        <p:spPr>
          <a:xfrm>
            <a:off x="7726680" y="2441448"/>
            <a:ext cx="237744" cy="237744"/>
          </a:xfrm>
          <a:prstGeom prst="rect">
            <a:avLst/>
          </a:prstGeom>
        </p:spPr>
      </p:pic>
      <p:sp>
        <p:nvSpPr>
          <p:cNvPr id="36" name="Text 27"/>
          <p:cNvSpPr txBox="1"/>
          <p:nvPr/>
        </p:nvSpPr>
        <p:spPr>
          <a:xfrm>
            <a:off x="8028432" y="2331720"/>
            <a:ext cx="1673352" cy="457200"/>
          </a:xfrm>
          <a:prstGeom prst="rect">
            <a:avLst/>
          </a:prstGeom>
          <a:noFill/>
          <a:ln/>
        </p:spPr>
        <p:txBody>
          <a:bodyPr wrap="square" lIns="0" tIns="0" rIns="0" bIns="0" rtlCol="0" anchor="ctr"/>
          <a:lstStyle/>
          <a:p>
            <a:pPr indent="0" marL="0">
              <a:buNone/>
            </a:pPr>
            <a:r>
              <a:rPr lang="en-US" sz="1200" dirty="0">
                <a:solidFill>
                  <a:srgbClr val="F3F7FC"/>
                </a:solidFill>
                <a:latin typeface="Segoe UI" pitchFamily="34" charset="0"/>
                <a:ea typeface="Segoe UI" pitchFamily="34" charset="-122"/>
                <a:cs typeface="Segoe UI" pitchFamily="34" charset="-120"/>
              </a:rPr>
              <a:t>Read project files</a:t>
            </a:r>
            <a:endParaRPr lang="en-US" sz="1200" dirty="0"/>
          </a:p>
        </p:txBody>
      </p:sp>
      <p:sp>
        <p:nvSpPr>
          <p:cNvPr id="37" name="Shape 28"/>
          <p:cNvSpPr/>
          <p:nvPr/>
        </p:nvSpPr>
        <p:spPr>
          <a:xfrm>
            <a:off x="9720072" y="2560320"/>
            <a:ext cx="594360" cy="91"/>
          </a:xfrm>
          <a:prstGeom prst="line">
            <a:avLst/>
          </a:prstGeom>
          <a:noFill/>
          <a:ln w="22225">
            <a:solidFill>
              <a:srgbClr val="52E5FF"/>
            </a:solidFill>
            <a:prstDash val="solid"/>
            <a:tailEnd type="triangle"/>
          </a:ln>
        </p:spPr>
      </p:sp>
      <p:sp>
        <p:nvSpPr>
          <p:cNvPr id="38" name="Shape 29"/>
          <p:cNvSpPr/>
          <p:nvPr/>
        </p:nvSpPr>
        <p:spPr>
          <a:xfrm>
            <a:off x="7342632" y="3268980"/>
            <a:ext cx="274320" cy="68580"/>
          </a:xfrm>
          <a:prstGeom prst="line">
            <a:avLst/>
          </a:prstGeom>
          <a:noFill/>
          <a:ln w="12700">
            <a:solidFill>
              <a:srgbClr val="8795A8">
                <a:alpha val="70000"/>
              </a:srgbClr>
            </a:solidFill>
            <a:prstDash val="solid"/>
          </a:ln>
        </p:spPr>
      </p:sp>
      <p:sp>
        <p:nvSpPr>
          <p:cNvPr id="39" name="Shape 30"/>
          <p:cNvSpPr/>
          <p:nvPr/>
        </p:nvSpPr>
        <p:spPr>
          <a:xfrm>
            <a:off x="7616952" y="3108960"/>
            <a:ext cx="2103120" cy="457200"/>
          </a:xfrm>
          <a:prstGeom prst="roundRect">
            <a:avLst>
              <a:gd name="adj" fmla="val 24000"/>
            </a:avLst>
          </a:prstGeom>
          <a:solidFill>
            <a:srgbClr val="101827"/>
          </a:solidFill>
          <a:ln w="12700">
            <a:solidFill>
              <a:srgbClr val="26354D"/>
            </a:solidFill>
            <a:prstDash val="solid"/>
          </a:ln>
        </p:spPr>
      </p:sp>
      <p:pic>
        <p:nvPicPr>
          <p:cNvPr id="40" name="Image 7" descr="Create release note">    </p:cNvPr>
          <p:cNvPicPr>
            <a:picLocks noChangeAspect="1"/>
          </p:cNvPicPr>
          <p:nvPr/>
        </p:nvPicPr>
        <p:blipFill>
          <a:blip r:embed="rId9"/>
          <a:stretch>
            <a:fillRect/>
          </a:stretch>
        </p:blipFill>
        <p:spPr>
          <a:xfrm>
            <a:off x="7726680" y="3218688"/>
            <a:ext cx="237744" cy="237744"/>
          </a:xfrm>
          <a:prstGeom prst="rect">
            <a:avLst/>
          </a:prstGeom>
        </p:spPr>
      </p:pic>
      <p:sp>
        <p:nvSpPr>
          <p:cNvPr id="41" name="Text 31"/>
          <p:cNvSpPr txBox="1"/>
          <p:nvPr/>
        </p:nvSpPr>
        <p:spPr>
          <a:xfrm>
            <a:off x="8028432" y="3108960"/>
            <a:ext cx="1673352" cy="457200"/>
          </a:xfrm>
          <a:prstGeom prst="rect">
            <a:avLst/>
          </a:prstGeom>
          <a:noFill/>
          <a:ln/>
        </p:spPr>
        <p:txBody>
          <a:bodyPr wrap="square" lIns="0" tIns="0" rIns="0" bIns="0" rtlCol="0" anchor="ctr"/>
          <a:lstStyle/>
          <a:p>
            <a:pPr indent="0" marL="0">
              <a:buNone/>
            </a:pPr>
            <a:r>
              <a:rPr lang="en-US" sz="1200" dirty="0">
                <a:solidFill>
                  <a:srgbClr val="F3F7FC"/>
                </a:solidFill>
                <a:latin typeface="Segoe UI" pitchFamily="34" charset="0"/>
                <a:ea typeface="Segoe UI" pitchFamily="34" charset="-122"/>
                <a:cs typeface="Segoe UI" pitchFamily="34" charset="-120"/>
              </a:rPr>
              <a:t>Create release note</a:t>
            </a:r>
            <a:endParaRPr lang="en-US" sz="1200" dirty="0"/>
          </a:p>
        </p:txBody>
      </p:sp>
      <p:sp>
        <p:nvSpPr>
          <p:cNvPr id="42" name="Shape 32"/>
          <p:cNvSpPr/>
          <p:nvPr/>
        </p:nvSpPr>
        <p:spPr>
          <a:xfrm>
            <a:off x="9720072" y="3337560"/>
            <a:ext cx="594360" cy="91"/>
          </a:xfrm>
          <a:prstGeom prst="line">
            <a:avLst/>
          </a:prstGeom>
          <a:noFill/>
          <a:ln w="22225">
            <a:solidFill>
              <a:srgbClr val="52E5FF"/>
            </a:solidFill>
            <a:prstDash val="solid"/>
            <a:tailEnd type="triangle"/>
          </a:ln>
        </p:spPr>
      </p:sp>
      <p:sp>
        <p:nvSpPr>
          <p:cNvPr id="43" name="Shape 33"/>
          <p:cNvSpPr/>
          <p:nvPr/>
        </p:nvSpPr>
        <p:spPr>
          <a:xfrm>
            <a:off x="7342632" y="3268980"/>
            <a:ext cx="274320" cy="845820"/>
          </a:xfrm>
          <a:prstGeom prst="line">
            <a:avLst/>
          </a:prstGeom>
          <a:noFill/>
          <a:ln w="12700">
            <a:solidFill>
              <a:srgbClr val="8795A8">
                <a:alpha val="70000"/>
              </a:srgbClr>
            </a:solidFill>
            <a:prstDash val="solid"/>
          </a:ln>
        </p:spPr>
      </p:sp>
      <p:sp>
        <p:nvSpPr>
          <p:cNvPr id="44" name="Shape 34"/>
          <p:cNvSpPr/>
          <p:nvPr/>
        </p:nvSpPr>
        <p:spPr>
          <a:xfrm>
            <a:off x="7616952" y="3886200"/>
            <a:ext cx="2103120" cy="457200"/>
          </a:xfrm>
          <a:prstGeom prst="roundRect">
            <a:avLst>
              <a:gd name="adj" fmla="val 24000"/>
            </a:avLst>
          </a:prstGeom>
          <a:solidFill>
            <a:srgbClr val="FF5C70">
              <a:alpha val="12000"/>
            </a:srgbClr>
          </a:solidFill>
          <a:ln w="12700">
            <a:solidFill>
              <a:srgbClr val="FF5C70"/>
            </a:solidFill>
            <a:prstDash val="solid"/>
          </a:ln>
        </p:spPr>
      </p:sp>
      <p:pic>
        <p:nvPicPr>
          <p:cNvPr id="45" name="Image 8" descr="Delete protected file">    </p:cNvPr>
          <p:cNvPicPr>
            <a:picLocks noChangeAspect="1"/>
          </p:cNvPicPr>
          <p:nvPr/>
        </p:nvPicPr>
        <p:blipFill>
          <a:blip r:embed="rId10"/>
          <a:stretch>
            <a:fillRect/>
          </a:stretch>
        </p:blipFill>
        <p:spPr>
          <a:xfrm>
            <a:off x="7726680" y="3995928"/>
            <a:ext cx="237744" cy="237744"/>
          </a:xfrm>
          <a:prstGeom prst="rect">
            <a:avLst/>
          </a:prstGeom>
        </p:spPr>
      </p:pic>
      <p:sp>
        <p:nvSpPr>
          <p:cNvPr id="46" name="Text 35"/>
          <p:cNvSpPr txBox="1"/>
          <p:nvPr/>
        </p:nvSpPr>
        <p:spPr>
          <a:xfrm>
            <a:off x="8028432" y="3886200"/>
            <a:ext cx="1673352" cy="457200"/>
          </a:xfrm>
          <a:prstGeom prst="rect">
            <a:avLst/>
          </a:prstGeom>
          <a:noFill/>
          <a:ln/>
        </p:spPr>
        <p:txBody>
          <a:bodyPr wrap="square" lIns="0" tIns="0" rIns="0" bIns="0" rtlCol="0" anchor="ctr"/>
          <a:lstStyle/>
          <a:p>
            <a:pPr indent="0" marL="0">
              <a:buNone/>
            </a:pPr>
            <a:r>
              <a:rPr lang="en-US" sz="1200" dirty="0">
                <a:solidFill>
                  <a:srgbClr val="F3F7FC"/>
                </a:solidFill>
                <a:latin typeface="Segoe UI" pitchFamily="34" charset="0"/>
                <a:ea typeface="Segoe UI" pitchFamily="34" charset="-122"/>
                <a:cs typeface="Segoe UI" pitchFamily="34" charset="-120"/>
              </a:rPr>
              <a:t>Delete protected file</a:t>
            </a:r>
            <a:endParaRPr lang="en-US" sz="1200" dirty="0"/>
          </a:p>
        </p:txBody>
      </p:sp>
      <p:sp>
        <p:nvSpPr>
          <p:cNvPr id="47" name="Shape 36"/>
          <p:cNvSpPr/>
          <p:nvPr/>
        </p:nvSpPr>
        <p:spPr>
          <a:xfrm>
            <a:off x="9720072" y="4114800"/>
            <a:ext cx="210312" cy="91"/>
          </a:xfrm>
          <a:prstGeom prst="line">
            <a:avLst/>
          </a:prstGeom>
          <a:noFill/>
          <a:ln w="25400">
            <a:solidFill>
              <a:srgbClr val="FF5C70"/>
            </a:solidFill>
            <a:prstDash val="solid"/>
            <a:tailEnd type="triangle"/>
          </a:ln>
        </p:spPr>
      </p:sp>
      <p:pic>
        <p:nvPicPr>
          <p:cNvPr id="48" name="Image 9" descr="Blocked at the boundary">    </p:cNvPr>
          <p:cNvPicPr>
            <a:picLocks noChangeAspect="1"/>
          </p:cNvPicPr>
          <p:nvPr/>
        </p:nvPicPr>
        <p:blipFill>
          <a:blip r:embed="rId11"/>
          <a:stretch>
            <a:fillRect/>
          </a:stretch>
        </p:blipFill>
        <p:spPr>
          <a:xfrm>
            <a:off x="9646920" y="3639312"/>
            <a:ext cx="237744" cy="237744"/>
          </a:xfrm>
          <a:prstGeom prst="rect">
            <a:avLst/>
          </a:prstGeom>
        </p:spPr>
      </p:pic>
      <p:sp>
        <p:nvSpPr>
          <p:cNvPr id="49" name="Shape 37"/>
          <p:cNvSpPr/>
          <p:nvPr/>
        </p:nvSpPr>
        <p:spPr>
          <a:xfrm>
            <a:off x="10314432" y="2331720"/>
            <a:ext cx="960120" cy="2011680"/>
          </a:xfrm>
          <a:prstGeom prst="roundRect">
            <a:avLst>
              <a:gd name="adj" fmla="val 11429"/>
            </a:avLst>
          </a:prstGeom>
          <a:solidFill>
            <a:srgbClr val="101827"/>
          </a:solidFill>
          <a:ln w="12700">
            <a:solidFill>
              <a:srgbClr val="26354D"/>
            </a:solidFill>
            <a:prstDash val="solid"/>
          </a:ln>
        </p:spPr>
      </p:sp>
      <p:pic>
        <p:nvPicPr>
          <p:cNvPr id="50" name="Image 10" descr="Files">    </p:cNvPr>
          <p:cNvPicPr>
            <a:picLocks noChangeAspect="1"/>
          </p:cNvPicPr>
          <p:nvPr/>
        </p:nvPicPr>
        <p:blipFill>
          <a:blip r:embed="rId12"/>
          <a:stretch>
            <a:fillRect/>
          </a:stretch>
        </p:blipFill>
        <p:spPr>
          <a:xfrm>
            <a:off x="10607040" y="2743200"/>
            <a:ext cx="384048" cy="384048"/>
          </a:xfrm>
          <a:prstGeom prst="rect">
            <a:avLst/>
          </a:prstGeom>
        </p:spPr>
      </p:pic>
      <p:sp>
        <p:nvSpPr>
          <p:cNvPr id="51" name="Text 38"/>
          <p:cNvSpPr txBox="1"/>
          <p:nvPr/>
        </p:nvSpPr>
        <p:spPr>
          <a:xfrm>
            <a:off x="10314432" y="3246120"/>
            <a:ext cx="960120" cy="274320"/>
          </a:xfrm>
          <a:prstGeom prst="rect">
            <a:avLst/>
          </a:prstGeom>
          <a:noFill/>
          <a:ln/>
        </p:spPr>
        <p:txBody>
          <a:bodyPr wrap="square" lIns="0" tIns="0" rIns="0" bIns="0" rtlCol="0" anchor="ctr"/>
          <a:lstStyle/>
          <a:p>
            <a:pPr algn="ctr" indent="0" marL="0">
              <a:buNone/>
            </a:pPr>
            <a:r>
              <a:rPr lang="en-US" sz="1200" dirty="0">
                <a:solidFill>
                  <a:srgbClr val="F3F7FC"/>
                </a:solidFill>
                <a:latin typeface="Segoe UI" pitchFamily="34" charset="0"/>
                <a:ea typeface="Segoe UI" pitchFamily="34" charset="-122"/>
                <a:cs typeface="Segoe UI" pitchFamily="34" charset="-120"/>
              </a:rPr>
              <a:t>Files</a:t>
            </a:r>
            <a:endParaRPr lang="en-US" sz="1200" dirty="0"/>
          </a:p>
        </p:txBody>
      </p:sp>
      <p:sp>
        <p:nvSpPr>
          <p:cNvPr id="52" name="Control boundary"/>
          <p:cNvSpPr/>
          <p:nvPr/>
        </p:nvSpPr>
        <p:spPr>
          <a:xfrm>
            <a:off x="9948672" y="2194560"/>
            <a:ext cx="54864" cy="2103120"/>
          </a:xfrm>
          <a:prstGeom prst="rect">
            <a:avLst/>
          </a:prstGeom>
          <a:solidFill>
            <a:srgbClr val="52E5FF"/>
          </a:solidFill>
          <a:ln w="12700">
            <a:solidFill>
              <a:srgbClr val="52E5FF"/>
            </a:solidFill>
            <a:prstDash val="solid"/>
          </a:ln>
          <a:effectLst>
            <a:outerShdw sx="100000" sy="100000" kx="0" ky="0" algn="bl" rotWithShape="0" blurRad="152400" dist="50800" dir="16200000">
              <a:srgbClr val="52E5FF">
                <a:alpha val="80000"/>
              </a:srgbClr>
            </a:outerShdw>
          </a:effectLst>
        </p:spPr>
      </p:sp>
      <p:sp>
        <p:nvSpPr>
          <p:cNvPr id="53" name="Text 40"/>
          <p:cNvSpPr txBox="1"/>
          <p:nvPr/>
        </p:nvSpPr>
        <p:spPr>
          <a:xfrm>
            <a:off x="8942832" y="4370832"/>
            <a:ext cx="2066544" cy="256032"/>
          </a:xfrm>
          <a:prstGeom prst="rect">
            <a:avLst/>
          </a:prstGeom>
          <a:noFill/>
          <a:ln/>
        </p:spPr>
        <p:txBody>
          <a:bodyPr wrap="square" lIns="0" tIns="0" rIns="0" bIns="0" rtlCol="0" anchor="ctr"/>
          <a:lstStyle/>
          <a:p>
            <a:pPr algn="ctr" indent="0" marL="0">
              <a:buNone/>
            </a:pPr>
            <a:r>
              <a:rPr lang="en-US" sz="1050" i="1" dirty="0">
                <a:solidFill>
                  <a:srgbClr val="52E5FF"/>
                </a:solidFill>
                <a:latin typeface="Segoe UI" pitchFamily="34" charset="0"/>
                <a:ea typeface="Segoe UI" pitchFamily="34" charset="-122"/>
                <a:cs typeface="Segoe UI" pitchFamily="34" charset="-120"/>
              </a:rPr>
              <a:t>control boundary</a:t>
            </a:r>
            <a:endParaRPr lang="en-US" sz="1050" dirty="0"/>
          </a:p>
        </p:txBody>
      </p:sp>
      <p:sp>
        <p:nvSpPr>
          <p:cNvPr id="54" name="Shape 41"/>
          <p:cNvSpPr/>
          <p:nvPr/>
        </p:nvSpPr>
        <p:spPr>
          <a:xfrm>
            <a:off x="640080" y="5010912"/>
            <a:ext cx="457200" cy="457200"/>
          </a:xfrm>
          <a:prstGeom prst="ellipse">
            <a:avLst/>
          </a:prstGeom>
          <a:solidFill>
            <a:srgbClr val="FF5C70">
              <a:alpha val="15000"/>
            </a:srgbClr>
          </a:solidFill>
          <a:ln w="15875">
            <a:solidFill>
              <a:srgbClr val="FF5C70">
                <a:alpha val="80000"/>
              </a:srgbClr>
            </a:solidFill>
            <a:prstDash val="solid"/>
          </a:ln>
        </p:spPr>
      </p:sp>
      <p:pic>
        <p:nvPicPr>
          <p:cNvPr id="55" name="Image 11" descr="Unauthorized access">    </p:cNvPr>
          <p:cNvPicPr>
            <a:picLocks noChangeAspect="1"/>
          </p:cNvPicPr>
          <p:nvPr/>
        </p:nvPicPr>
        <p:blipFill>
          <a:blip r:embed="rId13"/>
          <a:stretch>
            <a:fillRect/>
          </a:stretch>
        </p:blipFill>
        <p:spPr>
          <a:xfrm>
            <a:off x="754380" y="5125212"/>
            <a:ext cx="228600" cy="228600"/>
          </a:xfrm>
          <a:prstGeom prst="rect">
            <a:avLst/>
          </a:prstGeom>
        </p:spPr>
      </p:pic>
      <p:sp>
        <p:nvSpPr>
          <p:cNvPr id="56" name="Text 42"/>
          <p:cNvSpPr txBox="1"/>
          <p:nvPr/>
        </p:nvSpPr>
        <p:spPr>
          <a:xfrm>
            <a:off x="1234440" y="5010912"/>
            <a:ext cx="3017520" cy="457200"/>
          </a:xfrm>
          <a:prstGeom prst="rect">
            <a:avLst/>
          </a:prstGeom>
          <a:noFill/>
          <a:ln/>
        </p:spPr>
        <p:txBody>
          <a:bodyPr wrap="square" lIns="0" tIns="0" rIns="0" bIns="0" rtlCol="0" anchor="ctr"/>
          <a:lstStyle/>
          <a:p>
            <a:pPr indent="0" marL="0">
              <a:buNone/>
            </a:pPr>
            <a:r>
              <a:rPr lang="en-US" sz="1400" dirty="0">
                <a:solidFill>
                  <a:srgbClr val="F3F7FC"/>
                </a:solidFill>
                <a:latin typeface="Segoe UI Semibold" pitchFamily="34" charset="0"/>
                <a:ea typeface="Segoe UI Semibold" pitchFamily="34" charset="-122"/>
                <a:cs typeface="Segoe UI Semibold" pitchFamily="34" charset="-120"/>
              </a:rPr>
              <a:t>Unauthorized access</a:t>
            </a:r>
            <a:endParaRPr lang="en-US" sz="1400" dirty="0"/>
          </a:p>
        </p:txBody>
      </p:sp>
      <p:sp>
        <p:nvSpPr>
          <p:cNvPr id="57" name="Shape 43"/>
          <p:cNvSpPr/>
          <p:nvPr/>
        </p:nvSpPr>
        <p:spPr>
          <a:xfrm>
            <a:off x="4297680" y="5010912"/>
            <a:ext cx="457200" cy="457200"/>
          </a:xfrm>
          <a:prstGeom prst="ellipse">
            <a:avLst/>
          </a:prstGeom>
          <a:solidFill>
            <a:srgbClr val="FF5C70">
              <a:alpha val="15000"/>
            </a:srgbClr>
          </a:solidFill>
          <a:ln w="15875">
            <a:solidFill>
              <a:srgbClr val="FF5C70">
                <a:alpha val="80000"/>
              </a:srgbClr>
            </a:solidFill>
            <a:prstDash val="solid"/>
          </a:ln>
        </p:spPr>
      </p:sp>
      <p:pic>
        <p:nvPicPr>
          <p:cNvPr id="58" name="Image 12" descr="Destructive actions">    </p:cNvPr>
          <p:cNvPicPr>
            <a:picLocks noChangeAspect="1"/>
          </p:cNvPicPr>
          <p:nvPr/>
        </p:nvPicPr>
        <p:blipFill>
          <a:blip r:embed="rId14"/>
          <a:stretch>
            <a:fillRect/>
          </a:stretch>
        </p:blipFill>
        <p:spPr>
          <a:xfrm>
            <a:off x="4411980" y="5125212"/>
            <a:ext cx="228600" cy="228600"/>
          </a:xfrm>
          <a:prstGeom prst="rect">
            <a:avLst/>
          </a:prstGeom>
        </p:spPr>
      </p:pic>
      <p:sp>
        <p:nvSpPr>
          <p:cNvPr id="59" name="Text 44"/>
          <p:cNvSpPr txBox="1"/>
          <p:nvPr/>
        </p:nvSpPr>
        <p:spPr>
          <a:xfrm>
            <a:off x="4892040" y="5010912"/>
            <a:ext cx="3017520" cy="457200"/>
          </a:xfrm>
          <a:prstGeom prst="rect">
            <a:avLst/>
          </a:prstGeom>
          <a:noFill/>
          <a:ln/>
        </p:spPr>
        <p:txBody>
          <a:bodyPr wrap="square" lIns="0" tIns="0" rIns="0" bIns="0" rtlCol="0" anchor="ctr"/>
          <a:lstStyle/>
          <a:p>
            <a:pPr indent="0" marL="0">
              <a:buNone/>
            </a:pPr>
            <a:r>
              <a:rPr lang="en-US" sz="1400" dirty="0">
                <a:solidFill>
                  <a:srgbClr val="F3F7FC"/>
                </a:solidFill>
                <a:latin typeface="Segoe UI Semibold" pitchFamily="34" charset="0"/>
                <a:ea typeface="Segoe UI Semibold" pitchFamily="34" charset="-122"/>
                <a:cs typeface="Segoe UI Semibold" pitchFamily="34" charset="-120"/>
              </a:rPr>
              <a:t>Destructive actions</a:t>
            </a:r>
            <a:endParaRPr lang="en-US" sz="1400" dirty="0"/>
          </a:p>
        </p:txBody>
      </p:sp>
      <p:sp>
        <p:nvSpPr>
          <p:cNvPr id="60" name="Shape 45"/>
          <p:cNvSpPr/>
          <p:nvPr/>
        </p:nvSpPr>
        <p:spPr>
          <a:xfrm>
            <a:off x="7955280" y="5010912"/>
            <a:ext cx="457200" cy="457200"/>
          </a:xfrm>
          <a:prstGeom prst="ellipse">
            <a:avLst/>
          </a:prstGeom>
          <a:solidFill>
            <a:srgbClr val="FF5C70">
              <a:alpha val="15000"/>
            </a:srgbClr>
          </a:solidFill>
          <a:ln w="15875">
            <a:solidFill>
              <a:srgbClr val="FF5C70">
                <a:alpha val="80000"/>
              </a:srgbClr>
            </a:solidFill>
            <a:prstDash val="solid"/>
          </a:ln>
        </p:spPr>
      </p:sp>
      <p:pic>
        <p:nvPicPr>
          <p:cNvPr id="61" name="Image 13" descr="Instructions in untrusted content">    </p:cNvPr>
          <p:cNvPicPr>
            <a:picLocks noChangeAspect="1"/>
          </p:cNvPicPr>
          <p:nvPr/>
        </p:nvPicPr>
        <p:blipFill>
          <a:blip r:embed="rId15"/>
          <a:stretch>
            <a:fillRect/>
          </a:stretch>
        </p:blipFill>
        <p:spPr>
          <a:xfrm>
            <a:off x="8069580" y="5125212"/>
            <a:ext cx="228600" cy="228600"/>
          </a:xfrm>
          <a:prstGeom prst="rect">
            <a:avLst/>
          </a:prstGeom>
        </p:spPr>
      </p:pic>
      <p:sp>
        <p:nvSpPr>
          <p:cNvPr id="62" name="Text 46"/>
          <p:cNvSpPr txBox="1"/>
          <p:nvPr/>
        </p:nvSpPr>
        <p:spPr>
          <a:xfrm>
            <a:off x="8549640" y="5010912"/>
            <a:ext cx="3017520" cy="457200"/>
          </a:xfrm>
          <a:prstGeom prst="rect">
            <a:avLst/>
          </a:prstGeom>
          <a:noFill/>
          <a:ln/>
        </p:spPr>
        <p:txBody>
          <a:bodyPr wrap="square" lIns="0" tIns="0" rIns="0" bIns="0" rtlCol="0" anchor="ctr"/>
          <a:lstStyle/>
          <a:p>
            <a:pPr indent="0" marL="0">
              <a:buNone/>
            </a:pPr>
            <a:r>
              <a:rPr lang="en-US" sz="1400" dirty="0">
                <a:solidFill>
                  <a:srgbClr val="F3F7FC"/>
                </a:solidFill>
                <a:latin typeface="Segoe UI Semibold" pitchFamily="34" charset="0"/>
                <a:ea typeface="Segoe UI Semibold" pitchFamily="34" charset="-122"/>
                <a:cs typeface="Segoe UI Semibold" pitchFamily="34" charset="-120"/>
              </a:rPr>
              <a:t>Instructions in untrusted content</a:t>
            </a:r>
            <a:endParaRPr lang="en-US" sz="1400" dirty="0"/>
          </a:p>
        </p:txBody>
      </p:sp>
      <p:sp>
        <p:nvSpPr>
          <p:cNvPr id="63" name="Text 47"/>
          <p:cNvSpPr txBox="1"/>
          <p:nvPr/>
        </p:nvSpPr>
        <p:spPr>
          <a:xfrm>
            <a:off x="640080" y="5669280"/>
            <a:ext cx="10881360" cy="457200"/>
          </a:xfrm>
          <a:prstGeom prst="rect">
            <a:avLst/>
          </a:prstGeom>
          <a:noFill/>
          <a:ln/>
        </p:spPr>
        <p:txBody>
          <a:bodyPr wrap="square" lIns="0" tIns="0" rIns="0" bIns="0" rtlCol="0" anchor="ctr"/>
          <a:lstStyle/>
          <a:p>
            <a:pPr algn="ctr" indent="0" marL="0">
              <a:buNone/>
            </a:pPr>
            <a:r>
              <a:rPr lang="en-US" sz="1900" i="1" dirty="0">
                <a:solidFill>
                  <a:srgbClr val="52E5FF"/>
                </a:solidFill>
                <a:latin typeface="Segoe UI" pitchFamily="34" charset="0"/>
                <a:ea typeface="Segoe UI" pitchFamily="34" charset="-122"/>
                <a:cs typeface="Segoe UI" pitchFamily="34" charset="-120"/>
              </a:rPr>
              <a:t>How do we enable useful agent actions without blindly trusting them?</a:t>
            </a:r>
            <a:endParaRPr lang="en-US" sz="1900" dirty="0"/>
          </a:p>
        </p:txBody>
      </p:sp>
      <p:sp>
        <p:nvSpPr>
          <p:cNvPr id="25" name="Slide Number Placeholder 0"/>
          <p:cNvSpPr>
            <a:spLocks noGrp="1"/>
          </p:cNvSpPr>
          <p:nvPr>
            <p:ph type="sldNum" sz="quarter" idx="4294967295"/>
          </p:nvPr>
        </p:nvSpPr>
        <p:spPr>
          <a:xfrm>
            <a:off x="1106424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384048"/>
            <a:ext cx="7315200" cy="292608"/>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nsolas" pitchFamily="34" charset="0"/>
                <a:ea typeface="Consolas" pitchFamily="34" charset="-122"/>
                <a:cs typeface="Consolas" pitchFamily="34" charset="-120"/>
              </a:rPr>
              <a:t>03 · ARCHITECTURE</a:t>
            </a:r>
            <a:endParaRPr lang="en-US" sz="1200" dirty="0"/>
          </a:p>
        </p:txBody>
      </p:sp>
      <p:sp>
        <p:nvSpPr>
          <p:cNvPr id="3" name="Text 0"/>
          <p:cNvSpPr/>
          <p:nvPr>
            <p:ph idx="101" type="title" hasCustomPrompt="1"/>
          </p:nvPr>
        </p:nvSpPr>
        <p:spPr>
          <a:xfrm>
            <a:off x="640080" y="694944"/>
            <a:ext cx="10881360" cy="713232"/>
          </a:xfrm>
          <a:prstGeom prst="rect">
            <a:avLst/>
          </a:prstGeom>
          <a:noFill/>
          <a:ln/>
        </p:spPr>
        <p:txBody>
          <a:bodyPr wrap="square" lIns="0" tIns="0" rIns="0" bIns="0" rtlCol="0" anchor="ctr"/>
          <a:lstStyle/>
          <a:p>
            <a:pPr algn="l" indent="0" marL="0">
              <a:buNone/>
            </a:pPr>
            <a:r>
              <a:rPr lang="en-US" sz="3200" dirty="0">
                <a:solidFill>
                  <a:schemeClr val="bg1"/>
                </a:solidFill>
                <a:latin typeface="Segoe UI Semibold" pitchFamily="34" charset="0"/>
                <a:ea typeface="Segoe UI Semibold" pitchFamily="34" charset="-122"/>
                <a:cs typeface="Segoe UI Semibold" pitchFamily="34" charset="-120"/>
              </a:rPr>
              <a:t>Every action passes through a control boundary</a:t>
            </a:r>
            <a:endParaRPr lang="en-US" sz="3200" dirty="0"/>
          </a:p>
        </p:txBody>
      </p:sp>
      <p:sp>
        <p:nvSpPr>
          <p:cNvPr id="4" name="AI agent"/>
          <p:cNvSpPr/>
          <p:nvPr/>
        </p:nvSpPr>
        <p:spPr>
          <a:xfrm>
            <a:off x="548640" y="3163824"/>
            <a:ext cx="1280160" cy="896112"/>
          </a:xfrm>
          <a:prstGeom prst="roundRect">
            <a:avLst>
              <a:gd name="adj" fmla="val 10204"/>
            </a:avLst>
          </a:prstGeom>
          <a:solidFill>
            <a:srgbClr val="101827"/>
          </a:solidFill>
          <a:ln w="15875">
            <a:solidFill>
              <a:srgbClr val="8795A8"/>
            </a:solidFill>
            <a:prstDash val="solid"/>
          </a:ln>
        </p:spPr>
      </p:sp>
      <p:pic>
        <p:nvPicPr>
          <p:cNvPr id="5" name="Image 0" descr="AI agent">    </p:cNvPr>
          <p:cNvPicPr>
            <a:picLocks noChangeAspect="1"/>
          </p:cNvPicPr>
          <p:nvPr/>
        </p:nvPicPr>
        <p:blipFill>
          <a:blip r:embed="rId2"/>
          <a:stretch>
            <a:fillRect/>
          </a:stretch>
        </p:blipFill>
        <p:spPr>
          <a:xfrm>
            <a:off x="676656" y="3291840"/>
            <a:ext cx="274320" cy="274320"/>
          </a:xfrm>
          <a:prstGeom prst="rect">
            <a:avLst/>
          </a:prstGeom>
        </p:spPr>
      </p:pic>
      <p:sp>
        <p:nvSpPr>
          <p:cNvPr id="6" name="Text 3"/>
          <p:cNvSpPr txBox="1"/>
          <p:nvPr/>
        </p:nvSpPr>
        <p:spPr>
          <a:xfrm>
            <a:off x="1005840" y="3291840"/>
            <a:ext cx="749808" cy="274320"/>
          </a:xfrm>
          <a:prstGeom prst="rect">
            <a:avLst/>
          </a:prstGeom>
          <a:noFill/>
          <a:ln/>
        </p:spPr>
        <p:txBody>
          <a:bodyPr wrap="square" lIns="0" tIns="0" rIns="0" bIns="0" rtlCol="0" anchor="ctr"/>
          <a:lstStyle/>
          <a:p>
            <a:pPr indent="0" marL="0">
              <a:buNone/>
            </a:pPr>
            <a:r>
              <a:rPr lang="en-US" sz="1000" dirty="0">
                <a:solidFill>
                  <a:srgbClr val="8795A8"/>
                </a:solidFill>
                <a:latin typeface="Consolas" pitchFamily="34" charset="0"/>
                <a:ea typeface="Consolas" pitchFamily="34" charset="-122"/>
                <a:cs typeface="Consolas" pitchFamily="34" charset="-120"/>
              </a:rPr>
              <a:t>UNTRUSTED</a:t>
            </a:r>
            <a:endParaRPr lang="en-US" sz="1000" dirty="0"/>
          </a:p>
        </p:txBody>
      </p:sp>
      <p:sp>
        <p:nvSpPr>
          <p:cNvPr id="7" name="Text 4"/>
          <p:cNvSpPr txBox="1"/>
          <p:nvPr/>
        </p:nvSpPr>
        <p:spPr>
          <a:xfrm>
            <a:off x="676656" y="3621024"/>
            <a:ext cx="1060704" cy="365760"/>
          </a:xfrm>
          <a:prstGeom prst="rect">
            <a:avLst/>
          </a:prstGeom>
          <a:noFill/>
          <a:ln/>
        </p:spPr>
        <p:txBody>
          <a:bodyPr wrap="square" lIns="0" tIns="0" rIns="0" bIns="0" rtlCol="0" anchor="t"/>
          <a:lstStyle/>
          <a:p>
            <a:pPr indent="0" marL="0">
              <a:buNone/>
            </a:pPr>
            <a:r>
              <a:rPr lang="en-US" sz="1300" dirty="0">
                <a:solidFill>
                  <a:srgbClr val="F3F7FC"/>
                </a:solidFill>
                <a:latin typeface="Segoe UI Semibold" pitchFamily="34" charset="0"/>
                <a:ea typeface="Segoe UI Semibold" pitchFamily="34" charset="-122"/>
                <a:cs typeface="Segoe UI Semibold" pitchFamily="34" charset="-120"/>
              </a:rPr>
              <a:t>AI agent</a:t>
            </a:r>
            <a:endParaRPr lang="en-US" sz="1300" dirty="0"/>
          </a:p>
        </p:txBody>
      </p:sp>
      <p:sp>
        <p:nvSpPr>
          <p:cNvPr id="8" name="Action proposal"/>
          <p:cNvSpPr/>
          <p:nvPr/>
        </p:nvSpPr>
        <p:spPr>
          <a:xfrm>
            <a:off x="2075688" y="3163824"/>
            <a:ext cx="1280160" cy="896112"/>
          </a:xfrm>
          <a:prstGeom prst="roundRect">
            <a:avLst>
              <a:gd name="adj" fmla="val 10204"/>
            </a:avLst>
          </a:prstGeom>
          <a:solidFill>
            <a:srgbClr val="101827"/>
          </a:solidFill>
          <a:ln w="15875">
            <a:solidFill>
              <a:srgbClr val="8795A8"/>
            </a:solidFill>
            <a:prstDash val="solid"/>
          </a:ln>
        </p:spPr>
      </p:sp>
      <p:pic>
        <p:nvPicPr>
          <p:cNvPr id="9" name="Image 1" descr="Action proposal">    </p:cNvPr>
          <p:cNvPicPr>
            <a:picLocks noChangeAspect="1"/>
          </p:cNvPicPr>
          <p:nvPr/>
        </p:nvPicPr>
        <p:blipFill>
          <a:blip r:embed="rId3"/>
          <a:stretch>
            <a:fillRect/>
          </a:stretch>
        </p:blipFill>
        <p:spPr>
          <a:xfrm>
            <a:off x="2203704" y="3291840"/>
            <a:ext cx="274320" cy="274320"/>
          </a:xfrm>
          <a:prstGeom prst="rect">
            <a:avLst/>
          </a:prstGeom>
        </p:spPr>
      </p:pic>
      <p:sp>
        <p:nvSpPr>
          <p:cNvPr id="10" name="Text 6"/>
          <p:cNvSpPr txBox="1"/>
          <p:nvPr/>
        </p:nvSpPr>
        <p:spPr>
          <a:xfrm>
            <a:off x="2532888" y="3291840"/>
            <a:ext cx="749808" cy="274320"/>
          </a:xfrm>
          <a:prstGeom prst="rect">
            <a:avLst/>
          </a:prstGeom>
          <a:noFill/>
          <a:ln/>
        </p:spPr>
        <p:txBody>
          <a:bodyPr wrap="square" lIns="0" tIns="0" rIns="0" bIns="0" rtlCol="0" anchor="ctr"/>
          <a:lstStyle/>
          <a:p>
            <a:pPr indent="0" marL="0">
              <a:buNone/>
            </a:pPr>
            <a:r>
              <a:rPr lang="en-US" sz="1000" dirty="0">
                <a:solidFill>
                  <a:srgbClr val="8795A8"/>
                </a:solidFill>
                <a:latin typeface="Consolas" pitchFamily="34" charset="0"/>
                <a:ea typeface="Consolas" pitchFamily="34" charset="-122"/>
                <a:cs typeface="Consolas" pitchFamily="34" charset="-120"/>
              </a:rPr>
              <a:t>PROPOSES</a:t>
            </a:r>
            <a:endParaRPr lang="en-US" sz="1000" dirty="0"/>
          </a:p>
        </p:txBody>
      </p:sp>
      <p:sp>
        <p:nvSpPr>
          <p:cNvPr id="11" name="Text 7"/>
          <p:cNvSpPr txBox="1"/>
          <p:nvPr/>
        </p:nvSpPr>
        <p:spPr>
          <a:xfrm>
            <a:off x="2203704" y="3621024"/>
            <a:ext cx="1060704" cy="365760"/>
          </a:xfrm>
          <a:prstGeom prst="rect">
            <a:avLst/>
          </a:prstGeom>
          <a:noFill/>
          <a:ln/>
        </p:spPr>
        <p:txBody>
          <a:bodyPr wrap="square" lIns="0" tIns="0" rIns="0" bIns="0" rtlCol="0" anchor="t"/>
          <a:lstStyle/>
          <a:p>
            <a:pPr indent="0" marL="0">
              <a:buNone/>
            </a:pPr>
            <a:r>
              <a:rPr lang="en-US" sz="1300" dirty="0">
                <a:solidFill>
                  <a:srgbClr val="F3F7FC"/>
                </a:solidFill>
                <a:latin typeface="Segoe UI Semibold" pitchFamily="34" charset="0"/>
                <a:ea typeface="Segoe UI Semibold" pitchFamily="34" charset="-122"/>
                <a:cs typeface="Segoe UI Semibold" pitchFamily="34" charset="-120"/>
              </a:rPr>
              <a:t>Action proposal</a:t>
            </a:r>
            <a:endParaRPr lang="en-US" sz="1300" dirty="0"/>
          </a:p>
        </p:txBody>
      </p:sp>
      <p:sp>
        <p:nvSpPr>
          <p:cNvPr id="12" name="Risk analysis"/>
          <p:cNvSpPr/>
          <p:nvPr/>
        </p:nvSpPr>
        <p:spPr>
          <a:xfrm>
            <a:off x="3602736" y="3163824"/>
            <a:ext cx="1280160" cy="896112"/>
          </a:xfrm>
          <a:prstGeom prst="roundRect">
            <a:avLst>
              <a:gd name="adj" fmla="val 10204"/>
            </a:avLst>
          </a:prstGeom>
          <a:solidFill>
            <a:srgbClr val="101827"/>
          </a:solidFill>
          <a:ln w="15875">
            <a:solidFill>
              <a:srgbClr val="8795A8"/>
            </a:solidFill>
            <a:prstDash val="solid"/>
          </a:ln>
        </p:spPr>
      </p:sp>
      <p:pic>
        <p:nvPicPr>
          <p:cNvPr id="13" name="Image 2" descr="Risk analysis">    </p:cNvPr>
          <p:cNvPicPr>
            <a:picLocks noChangeAspect="1"/>
          </p:cNvPicPr>
          <p:nvPr/>
        </p:nvPicPr>
        <p:blipFill>
          <a:blip r:embed="rId4"/>
          <a:stretch>
            <a:fillRect/>
          </a:stretch>
        </p:blipFill>
        <p:spPr>
          <a:xfrm>
            <a:off x="3730752" y="3291840"/>
            <a:ext cx="274320" cy="274320"/>
          </a:xfrm>
          <a:prstGeom prst="rect">
            <a:avLst/>
          </a:prstGeom>
        </p:spPr>
      </p:pic>
      <p:sp>
        <p:nvSpPr>
          <p:cNvPr id="14" name="Text 9"/>
          <p:cNvSpPr txBox="1"/>
          <p:nvPr/>
        </p:nvSpPr>
        <p:spPr>
          <a:xfrm>
            <a:off x="4059936" y="3291840"/>
            <a:ext cx="749808" cy="274320"/>
          </a:xfrm>
          <a:prstGeom prst="rect">
            <a:avLst/>
          </a:prstGeom>
          <a:noFill/>
          <a:ln/>
        </p:spPr>
        <p:txBody>
          <a:bodyPr wrap="square" lIns="0" tIns="0" rIns="0" bIns="0" rtlCol="0" anchor="ctr"/>
          <a:lstStyle/>
          <a:p>
            <a:pPr indent="0" marL="0">
              <a:buNone/>
            </a:pPr>
            <a:r>
              <a:rPr lang="en-US" sz="1000" dirty="0">
                <a:solidFill>
                  <a:srgbClr val="8795A8"/>
                </a:solidFill>
                <a:latin typeface="Consolas" pitchFamily="34" charset="0"/>
                <a:ea typeface="Consolas" pitchFamily="34" charset="-122"/>
                <a:cs typeface="Consolas" pitchFamily="34" charset="-120"/>
              </a:rPr>
              <a:t>ADVISORY</a:t>
            </a:r>
            <a:endParaRPr lang="en-US" sz="1000" dirty="0"/>
          </a:p>
        </p:txBody>
      </p:sp>
      <p:sp>
        <p:nvSpPr>
          <p:cNvPr id="15" name="Text 10"/>
          <p:cNvSpPr txBox="1"/>
          <p:nvPr/>
        </p:nvSpPr>
        <p:spPr>
          <a:xfrm>
            <a:off x="3730752" y="3621024"/>
            <a:ext cx="1060704" cy="365760"/>
          </a:xfrm>
          <a:prstGeom prst="rect">
            <a:avLst/>
          </a:prstGeom>
          <a:noFill/>
          <a:ln/>
        </p:spPr>
        <p:txBody>
          <a:bodyPr wrap="square" lIns="0" tIns="0" rIns="0" bIns="0" rtlCol="0" anchor="t"/>
          <a:lstStyle/>
          <a:p>
            <a:pPr indent="0" marL="0">
              <a:buNone/>
            </a:pPr>
            <a:r>
              <a:rPr lang="en-US" sz="1300" dirty="0">
                <a:solidFill>
                  <a:srgbClr val="F3F7FC"/>
                </a:solidFill>
                <a:latin typeface="Segoe UI Semibold" pitchFamily="34" charset="0"/>
                <a:ea typeface="Segoe UI Semibold" pitchFamily="34" charset="-122"/>
                <a:cs typeface="Segoe UI Semibold" pitchFamily="34" charset="-120"/>
              </a:rPr>
              <a:t>Risk analysis</a:t>
            </a:r>
            <a:endParaRPr lang="en-US" sz="1300" dirty="0"/>
          </a:p>
        </p:txBody>
      </p:sp>
      <p:sp>
        <p:nvSpPr>
          <p:cNvPr id="16" name="Deterministic policy engine"/>
          <p:cNvSpPr/>
          <p:nvPr/>
        </p:nvSpPr>
        <p:spPr>
          <a:xfrm>
            <a:off x="5129784" y="3008376"/>
            <a:ext cx="1600200" cy="1207008"/>
          </a:xfrm>
          <a:prstGeom prst="roundRect">
            <a:avLst>
              <a:gd name="adj" fmla="val 7576"/>
            </a:avLst>
          </a:prstGeom>
          <a:solidFill>
            <a:srgbClr val="101827"/>
          </a:solidFill>
          <a:ln w="22225">
            <a:solidFill>
              <a:srgbClr val="52E5FF"/>
            </a:solidFill>
            <a:prstDash val="solid"/>
          </a:ln>
          <a:effectLst>
            <a:outerShdw sx="100000" sy="100000" kx="0" ky="0" algn="bl" rotWithShape="0" blurRad="177800" dist="50800" dir="16200000">
              <a:srgbClr val="52E5FF">
                <a:alpha val="55000"/>
              </a:srgbClr>
            </a:outerShdw>
          </a:effectLst>
        </p:spPr>
      </p:sp>
      <p:pic>
        <p:nvPicPr>
          <p:cNvPr id="17" name="Image 3" descr="Deterministic policy engine">    </p:cNvPr>
          <p:cNvPicPr>
            <a:picLocks noChangeAspect="1"/>
          </p:cNvPicPr>
          <p:nvPr/>
        </p:nvPicPr>
        <p:blipFill>
          <a:blip r:embed="rId5"/>
          <a:stretch>
            <a:fillRect/>
          </a:stretch>
        </p:blipFill>
        <p:spPr>
          <a:xfrm>
            <a:off x="5257800" y="3136392"/>
            <a:ext cx="274320" cy="274320"/>
          </a:xfrm>
          <a:prstGeom prst="rect">
            <a:avLst/>
          </a:prstGeom>
        </p:spPr>
      </p:pic>
      <p:sp>
        <p:nvSpPr>
          <p:cNvPr id="18" name="Text 12"/>
          <p:cNvSpPr txBox="1"/>
          <p:nvPr/>
        </p:nvSpPr>
        <p:spPr>
          <a:xfrm>
            <a:off x="5586984" y="3136392"/>
            <a:ext cx="1069848" cy="274320"/>
          </a:xfrm>
          <a:prstGeom prst="rect">
            <a:avLst/>
          </a:prstGeom>
          <a:noFill/>
          <a:ln/>
        </p:spPr>
        <p:txBody>
          <a:bodyPr wrap="square" lIns="0" tIns="0" rIns="0" bIns="0" rtlCol="0" anchor="ctr"/>
          <a:lstStyle/>
          <a:p>
            <a:pPr indent="0" marL="0">
              <a:buNone/>
            </a:pPr>
            <a:r>
              <a:rPr lang="en-US" sz="1000" dirty="0">
                <a:solidFill>
                  <a:srgbClr val="52E5FF"/>
                </a:solidFill>
                <a:latin typeface="Consolas" pitchFamily="34" charset="0"/>
                <a:ea typeface="Consolas" pitchFamily="34" charset="-122"/>
                <a:cs typeface="Consolas" pitchFamily="34" charset="-120"/>
              </a:rPr>
              <a:t>SOLE AUTHORITY</a:t>
            </a:r>
            <a:endParaRPr lang="en-US" sz="1000" dirty="0"/>
          </a:p>
        </p:txBody>
      </p:sp>
      <p:sp>
        <p:nvSpPr>
          <p:cNvPr id="19" name="Text 13"/>
          <p:cNvSpPr txBox="1"/>
          <p:nvPr/>
        </p:nvSpPr>
        <p:spPr>
          <a:xfrm>
            <a:off x="5257800" y="3465576"/>
            <a:ext cx="1380744" cy="676656"/>
          </a:xfrm>
          <a:prstGeom prst="rect">
            <a:avLst/>
          </a:prstGeom>
          <a:noFill/>
          <a:ln/>
        </p:spPr>
        <p:txBody>
          <a:bodyPr wrap="square" lIns="0" tIns="0" rIns="0" bIns="0" rtlCol="0" anchor="t"/>
          <a:lstStyle/>
          <a:p>
            <a:pPr indent="0" marL="0">
              <a:buNone/>
            </a:pPr>
            <a:r>
              <a:rPr lang="en-US" sz="1400" dirty="0">
                <a:solidFill>
                  <a:srgbClr val="F3F7FC"/>
                </a:solidFill>
                <a:latin typeface="Segoe UI Semibold" pitchFamily="34" charset="0"/>
                <a:ea typeface="Segoe UI Semibold" pitchFamily="34" charset="-122"/>
                <a:cs typeface="Segoe UI Semibold" pitchFamily="34" charset="-120"/>
              </a:rPr>
              <a:t>Deterministic policy engine</a:t>
            </a:r>
            <a:endParaRPr lang="en-US" sz="1400" dirty="0"/>
          </a:p>
        </p:txBody>
      </p:sp>
      <p:sp>
        <p:nvSpPr>
          <p:cNvPr id="20" name="Shape 14"/>
          <p:cNvSpPr/>
          <p:nvPr/>
        </p:nvSpPr>
        <p:spPr>
          <a:xfrm>
            <a:off x="1828800" y="3611880"/>
            <a:ext cx="246888" cy="91"/>
          </a:xfrm>
          <a:prstGeom prst="line">
            <a:avLst/>
          </a:prstGeom>
          <a:noFill/>
          <a:ln w="19050">
            <a:solidFill>
              <a:srgbClr val="8795A8"/>
            </a:solidFill>
            <a:prstDash val="solid"/>
            <a:tailEnd type="triangle"/>
          </a:ln>
        </p:spPr>
      </p:sp>
      <p:sp>
        <p:nvSpPr>
          <p:cNvPr id="21" name="Shape 15"/>
          <p:cNvSpPr/>
          <p:nvPr/>
        </p:nvSpPr>
        <p:spPr>
          <a:xfrm>
            <a:off x="3355848" y="3611880"/>
            <a:ext cx="246888" cy="91"/>
          </a:xfrm>
          <a:prstGeom prst="line">
            <a:avLst/>
          </a:prstGeom>
          <a:noFill/>
          <a:ln w="19050">
            <a:solidFill>
              <a:srgbClr val="8795A8"/>
            </a:solidFill>
            <a:prstDash val="solid"/>
            <a:tailEnd type="triangle"/>
          </a:ln>
        </p:spPr>
      </p:sp>
      <p:sp>
        <p:nvSpPr>
          <p:cNvPr id="22" name="Shape 16"/>
          <p:cNvSpPr/>
          <p:nvPr/>
        </p:nvSpPr>
        <p:spPr>
          <a:xfrm>
            <a:off x="4882896" y="3611880"/>
            <a:ext cx="246888" cy="91"/>
          </a:xfrm>
          <a:prstGeom prst="line">
            <a:avLst/>
          </a:prstGeom>
          <a:noFill/>
          <a:ln w="19050">
            <a:solidFill>
              <a:srgbClr val="8795A8"/>
            </a:solidFill>
            <a:prstDash val="solid"/>
            <a:tailEnd type="triangle"/>
          </a:ln>
        </p:spPr>
      </p:sp>
      <p:sp>
        <p:nvSpPr>
          <p:cNvPr id="23" name="Shape 17"/>
          <p:cNvSpPr/>
          <p:nvPr/>
        </p:nvSpPr>
        <p:spPr>
          <a:xfrm>
            <a:off x="6729984" y="3611880"/>
            <a:ext cx="173736" cy="91"/>
          </a:xfrm>
          <a:prstGeom prst="line">
            <a:avLst/>
          </a:prstGeom>
          <a:noFill/>
          <a:ln w="19050">
            <a:solidFill>
              <a:srgbClr val="F3F7FC">
                <a:alpha val="60000"/>
              </a:srgbClr>
            </a:solidFill>
            <a:prstDash val="solid"/>
          </a:ln>
        </p:spPr>
      </p:sp>
      <p:sp>
        <p:nvSpPr>
          <p:cNvPr id="24" name="Shape 18"/>
          <p:cNvSpPr/>
          <p:nvPr/>
        </p:nvSpPr>
        <p:spPr>
          <a:xfrm>
            <a:off x="6903720" y="2331720"/>
            <a:ext cx="91" cy="2560320"/>
          </a:xfrm>
          <a:prstGeom prst="line">
            <a:avLst/>
          </a:prstGeom>
          <a:noFill/>
          <a:ln w="19050">
            <a:solidFill>
              <a:srgbClr val="F3F7FC">
                <a:alpha val="60000"/>
              </a:srgbClr>
            </a:solidFill>
            <a:prstDash val="solid"/>
          </a:ln>
        </p:spPr>
      </p:sp>
      <p:sp>
        <p:nvSpPr>
          <p:cNvPr id="25" name="Shape 19"/>
          <p:cNvSpPr/>
          <p:nvPr/>
        </p:nvSpPr>
        <p:spPr>
          <a:xfrm>
            <a:off x="6903720" y="2331720"/>
            <a:ext cx="822960" cy="91"/>
          </a:xfrm>
          <a:prstGeom prst="line">
            <a:avLst/>
          </a:prstGeom>
          <a:noFill/>
          <a:ln w="25400">
            <a:solidFill>
              <a:srgbClr val="52E5FF"/>
            </a:solidFill>
            <a:prstDash val="solid"/>
            <a:tailEnd type="triangle"/>
          </a:ln>
        </p:spPr>
      </p:sp>
      <p:sp>
        <p:nvSpPr>
          <p:cNvPr id="26" name="Shape 20"/>
          <p:cNvSpPr/>
          <p:nvPr/>
        </p:nvSpPr>
        <p:spPr>
          <a:xfrm>
            <a:off x="6940296" y="1965960"/>
            <a:ext cx="658368" cy="256032"/>
          </a:xfrm>
          <a:prstGeom prst="roundRect">
            <a:avLst>
              <a:gd name="adj" fmla="val 57143"/>
            </a:avLst>
          </a:prstGeom>
          <a:solidFill>
            <a:srgbClr val="52E5FF">
              <a:alpha val="18000"/>
            </a:srgbClr>
          </a:solidFill>
          <a:ln w="12700">
            <a:solidFill>
              <a:srgbClr val="52E5FF"/>
            </a:solidFill>
            <a:prstDash val="solid"/>
          </a:ln>
        </p:spPr>
      </p:sp>
      <p:sp>
        <p:nvSpPr>
          <p:cNvPr id="27" name="Text 21"/>
          <p:cNvSpPr txBox="1"/>
          <p:nvPr/>
        </p:nvSpPr>
        <p:spPr>
          <a:xfrm>
            <a:off x="6940296" y="1965960"/>
            <a:ext cx="658368" cy="256032"/>
          </a:xfrm>
          <a:prstGeom prst="rect">
            <a:avLst/>
          </a:prstGeom>
          <a:noFill/>
          <a:ln/>
        </p:spPr>
        <p:txBody>
          <a:bodyPr wrap="square" lIns="0" tIns="0" rIns="0" bIns="0" rtlCol="0" anchor="ctr"/>
          <a:lstStyle/>
          <a:p>
            <a:pPr algn="ctr" indent="0" marL="0">
              <a:buNone/>
            </a:pPr>
            <a:r>
              <a:rPr lang="en-US" sz="950" b="1" spc="100" kern="0" dirty="0">
                <a:solidFill>
                  <a:srgbClr val="52E5FF"/>
                </a:solidFill>
                <a:latin typeface="Consolas" pitchFamily="34" charset="0"/>
                <a:ea typeface="Consolas" pitchFamily="34" charset="-122"/>
                <a:cs typeface="Consolas" pitchFamily="34" charset="-120"/>
              </a:rPr>
              <a:t>ALLOW</a:t>
            </a:r>
            <a:endParaRPr lang="en-US" sz="950" dirty="0"/>
          </a:p>
        </p:txBody>
      </p:sp>
      <p:sp>
        <p:nvSpPr>
          <p:cNvPr id="28" name="Shape 22"/>
          <p:cNvSpPr/>
          <p:nvPr/>
        </p:nvSpPr>
        <p:spPr>
          <a:xfrm>
            <a:off x="6903720" y="3611880"/>
            <a:ext cx="822960" cy="91"/>
          </a:xfrm>
          <a:prstGeom prst="line">
            <a:avLst/>
          </a:prstGeom>
          <a:noFill/>
          <a:ln w="25400">
            <a:solidFill>
              <a:srgbClr val="FFBF69"/>
            </a:solidFill>
            <a:prstDash val="solid"/>
            <a:tailEnd type="triangle"/>
          </a:ln>
        </p:spPr>
      </p:sp>
      <p:sp>
        <p:nvSpPr>
          <p:cNvPr id="29" name="Shape 23"/>
          <p:cNvSpPr/>
          <p:nvPr/>
        </p:nvSpPr>
        <p:spPr>
          <a:xfrm>
            <a:off x="6876288" y="3246120"/>
            <a:ext cx="786384" cy="256032"/>
          </a:xfrm>
          <a:prstGeom prst="roundRect">
            <a:avLst>
              <a:gd name="adj" fmla="val 57143"/>
            </a:avLst>
          </a:prstGeom>
          <a:solidFill>
            <a:srgbClr val="FFBF69">
              <a:alpha val="18000"/>
            </a:srgbClr>
          </a:solidFill>
          <a:ln w="12700">
            <a:solidFill>
              <a:srgbClr val="FFBF69"/>
            </a:solidFill>
            <a:prstDash val="solid"/>
          </a:ln>
        </p:spPr>
      </p:sp>
      <p:sp>
        <p:nvSpPr>
          <p:cNvPr id="30" name="Text 24"/>
          <p:cNvSpPr txBox="1"/>
          <p:nvPr/>
        </p:nvSpPr>
        <p:spPr>
          <a:xfrm>
            <a:off x="6876288" y="3246120"/>
            <a:ext cx="786384" cy="256032"/>
          </a:xfrm>
          <a:prstGeom prst="rect">
            <a:avLst/>
          </a:prstGeom>
          <a:noFill/>
          <a:ln/>
        </p:spPr>
        <p:txBody>
          <a:bodyPr wrap="square" lIns="0" tIns="0" rIns="0" bIns="0" rtlCol="0" anchor="ctr"/>
          <a:lstStyle/>
          <a:p>
            <a:pPr algn="ctr" indent="0" marL="0">
              <a:buNone/>
            </a:pPr>
            <a:r>
              <a:rPr lang="en-US" sz="950" b="1" spc="100" kern="0" dirty="0">
                <a:solidFill>
                  <a:srgbClr val="FFBF69"/>
                </a:solidFill>
                <a:latin typeface="Consolas" pitchFamily="34" charset="0"/>
                <a:ea typeface="Consolas" pitchFamily="34" charset="-122"/>
                <a:cs typeface="Consolas" pitchFamily="34" charset="-120"/>
              </a:rPr>
              <a:t>APPROVAL</a:t>
            </a:r>
            <a:endParaRPr lang="en-US" sz="950" dirty="0"/>
          </a:p>
        </p:txBody>
      </p:sp>
      <p:sp>
        <p:nvSpPr>
          <p:cNvPr id="31" name="Shape 25"/>
          <p:cNvSpPr/>
          <p:nvPr/>
        </p:nvSpPr>
        <p:spPr>
          <a:xfrm>
            <a:off x="6903720" y="4892040"/>
            <a:ext cx="822960" cy="91"/>
          </a:xfrm>
          <a:prstGeom prst="line">
            <a:avLst/>
          </a:prstGeom>
          <a:noFill/>
          <a:ln w="25400">
            <a:solidFill>
              <a:srgbClr val="FF5C70"/>
            </a:solidFill>
            <a:prstDash val="solid"/>
            <a:tailEnd type="triangle"/>
          </a:ln>
        </p:spPr>
      </p:sp>
      <p:sp>
        <p:nvSpPr>
          <p:cNvPr id="32" name="Shape 26"/>
          <p:cNvSpPr/>
          <p:nvPr/>
        </p:nvSpPr>
        <p:spPr>
          <a:xfrm>
            <a:off x="6940296" y="4526280"/>
            <a:ext cx="658368" cy="256032"/>
          </a:xfrm>
          <a:prstGeom prst="roundRect">
            <a:avLst>
              <a:gd name="adj" fmla="val 57143"/>
            </a:avLst>
          </a:prstGeom>
          <a:solidFill>
            <a:srgbClr val="FF5C70">
              <a:alpha val="18000"/>
            </a:srgbClr>
          </a:solidFill>
          <a:ln w="12700">
            <a:solidFill>
              <a:srgbClr val="FF5C70"/>
            </a:solidFill>
            <a:prstDash val="solid"/>
          </a:ln>
        </p:spPr>
      </p:sp>
      <p:sp>
        <p:nvSpPr>
          <p:cNvPr id="33" name="Text 27"/>
          <p:cNvSpPr txBox="1"/>
          <p:nvPr/>
        </p:nvSpPr>
        <p:spPr>
          <a:xfrm>
            <a:off x="6940296" y="4526280"/>
            <a:ext cx="658368" cy="256032"/>
          </a:xfrm>
          <a:prstGeom prst="rect">
            <a:avLst/>
          </a:prstGeom>
          <a:noFill/>
          <a:ln/>
        </p:spPr>
        <p:txBody>
          <a:bodyPr wrap="square" lIns="0" tIns="0" rIns="0" bIns="0" rtlCol="0" anchor="ctr"/>
          <a:lstStyle/>
          <a:p>
            <a:pPr algn="ctr" indent="0" marL="0">
              <a:buNone/>
            </a:pPr>
            <a:r>
              <a:rPr lang="en-US" sz="950" b="1" spc="100" kern="0" dirty="0">
                <a:solidFill>
                  <a:srgbClr val="FF5C70"/>
                </a:solidFill>
                <a:latin typeface="Consolas" pitchFamily="34" charset="0"/>
                <a:ea typeface="Consolas" pitchFamily="34" charset="-122"/>
                <a:cs typeface="Consolas" pitchFamily="34" charset="-120"/>
              </a:rPr>
              <a:t>BLOCK</a:t>
            </a:r>
            <a:endParaRPr lang="en-US" sz="950" dirty="0"/>
          </a:p>
        </p:txBody>
      </p:sp>
      <p:sp>
        <p:nvSpPr>
          <p:cNvPr id="34" name="Restricted executor"/>
          <p:cNvSpPr/>
          <p:nvPr/>
        </p:nvSpPr>
        <p:spPr>
          <a:xfrm>
            <a:off x="7726680" y="1883664"/>
            <a:ext cx="1371600" cy="896112"/>
          </a:xfrm>
          <a:prstGeom prst="roundRect">
            <a:avLst>
              <a:gd name="adj" fmla="val 10204"/>
            </a:avLst>
          </a:prstGeom>
          <a:solidFill>
            <a:srgbClr val="101827"/>
          </a:solidFill>
          <a:ln w="15875">
            <a:solidFill>
              <a:srgbClr val="52E5FF"/>
            </a:solidFill>
            <a:prstDash val="solid"/>
          </a:ln>
        </p:spPr>
      </p:sp>
      <p:pic>
        <p:nvPicPr>
          <p:cNvPr id="35" name="Image 4" descr="Restricted executor">    </p:cNvPr>
          <p:cNvPicPr>
            <a:picLocks noChangeAspect="1"/>
          </p:cNvPicPr>
          <p:nvPr/>
        </p:nvPicPr>
        <p:blipFill>
          <a:blip r:embed="rId6"/>
          <a:stretch>
            <a:fillRect/>
          </a:stretch>
        </p:blipFill>
        <p:spPr>
          <a:xfrm>
            <a:off x="7854696" y="2011680"/>
            <a:ext cx="274320" cy="274320"/>
          </a:xfrm>
          <a:prstGeom prst="rect">
            <a:avLst/>
          </a:prstGeom>
        </p:spPr>
      </p:pic>
      <p:sp>
        <p:nvSpPr>
          <p:cNvPr id="36" name="Text 29"/>
          <p:cNvSpPr txBox="1"/>
          <p:nvPr/>
        </p:nvSpPr>
        <p:spPr>
          <a:xfrm>
            <a:off x="8183880" y="2011680"/>
            <a:ext cx="841248" cy="274320"/>
          </a:xfrm>
          <a:prstGeom prst="rect">
            <a:avLst/>
          </a:prstGeom>
          <a:noFill/>
          <a:ln/>
        </p:spPr>
        <p:txBody>
          <a:bodyPr wrap="square" lIns="0" tIns="0" rIns="0" bIns="0" rtlCol="0" anchor="ctr"/>
          <a:lstStyle/>
          <a:p>
            <a:pPr indent="0" marL="0">
              <a:buNone/>
            </a:pPr>
            <a:r>
              <a:rPr lang="en-US" sz="1000" dirty="0">
                <a:solidFill>
                  <a:srgbClr val="52E5FF"/>
                </a:solidFill>
                <a:latin typeface="Consolas" pitchFamily="34" charset="0"/>
                <a:ea typeface="Consolas" pitchFamily="34" charset="-122"/>
                <a:cs typeface="Consolas" pitchFamily="34" charset="-120"/>
              </a:rPr>
              <a:t>WORKSPACE</a:t>
            </a:r>
            <a:endParaRPr lang="en-US" sz="1000" dirty="0"/>
          </a:p>
        </p:txBody>
      </p:sp>
      <p:sp>
        <p:nvSpPr>
          <p:cNvPr id="37" name="Text 30"/>
          <p:cNvSpPr txBox="1"/>
          <p:nvPr/>
        </p:nvSpPr>
        <p:spPr>
          <a:xfrm>
            <a:off x="7854696" y="2340864"/>
            <a:ext cx="1152144" cy="365760"/>
          </a:xfrm>
          <a:prstGeom prst="rect">
            <a:avLst/>
          </a:prstGeom>
          <a:noFill/>
          <a:ln/>
        </p:spPr>
        <p:txBody>
          <a:bodyPr wrap="square" lIns="0" tIns="0" rIns="0" bIns="0" rtlCol="0" anchor="t"/>
          <a:lstStyle/>
          <a:p>
            <a:pPr indent="0" marL="0">
              <a:buNone/>
            </a:pPr>
            <a:r>
              <a:rPr lang="en-US" sz="1300" dirty="0">
                <a:solidFill>
                  <a:srgbClr val="F3F7FC"/>
                </a:solidFill>
                <a:latin typeface="Segoe UI Semibold" pitchFamily="34" charset="0"/>
                <a:ea typeface="Segoe UI Semibold" pitchFamily="34" charset="-122"/>
                <a:cs typeface="Segoe UI Semibold" pitchFamily="34" charset="-120"/>
              </a:rPr>
              <a:t>Restricted executor</a:t>
            </a:r>
            <a:endParaRPr lang="en-US" sz="1300" dirty="0"/>
          </a:p>
        </p:txBody>
      </p:sp>
      <p:sp>
        <p:nvSpPr>
          <p:cNvPr id="38" name="Human decision"/>
          <p:cNvSpPr/>
          <p:nvPr/>
        </p:nvSpPr>
        <p:spPr>
          <a:xfrm>
            <a:off x="7726680" y="3163824"/>
            <a:ext cx="1371600" cy="896112"/>
          </a:xfrm>
          <a:prstGeom prst="roundRect">
            <a:avLst>
              <a:gd name="adj" fmla="val 10204"/>
            </a:avLst>
          </a:prstGeom>
          <a:solidFill>
            <a:srgbClr val="101827"/>
          </a:solidFill>
          <a:ln w="15875">
            <a:solidFill>
              <a:srgbClr val="FFBF69"/>
            </a:solidFill>
            <a:prstDash val="solid"/>
          </a:ln>
        </p:spPr>
      </p:sp>
      <p:pic>
        <p:nvPicPr>
          <p:cNvPr id="39" name="Image 5" descr="Human decision">    </p:cNvPr>
          <p:cNvPicPr>
            <a:picLocks noChangeAspect="1"/>
          </p:cNvPicPr>
          <p:nvPr/>
        </p:nvPicPr>
        <p:blipFill>
          <a:blip r:embed="rId7"/>
          <a:stretch>
            <a:fillRect/>
          </a:stretch>
        </p:blipFill>
        <p:spPr>
          <a:xfrm>
            <a:off x="7854696" y="3291840"/>
            <a:ext cx="274320" cy="274320"/>
          </a:xfrm>
          <a:prstGeom prst="rect">
            <a:avLst/>
          </a:prstGeom>
        </p:spPr>
      </p:pic>
      <p:sp>
        <p:nvSpPr>
          <p:cNvPr id="40" name="Text 32"/>
          <p:cNvSpPr txBox="1"/>
          <p:nvPr/>
        </p:nvSpPr>
        <p:spPr>
          <a:xfrm>
            <a:off x="8183880" y="3291840"/>
            <a:ext cx="841248" cy="274320"/>
          </a:xfrm>
          <a:prstGeom prst="rect">
            <a:avLst/>
          </a:prstGeom>
          <a:noFill/>
          <a:ln/>
        </p:spPr>
        <p:txBody>
          <a:bodyPr wrap="square" lIns="0" tIns="0" rIns="0" bIns="0" rtlCol="0" anchor="ctr"/>
          <a:lstStyle/>
          <a:p>
            <a:pPr indent="0" marL="0">
              <a:buNone/>
            </a:pPr>
            <a:r>
              <a:rPr lang="en-US" sz="1000" dirty="0">
                <a:solidFill>
                  <a:srgbClr val="FFBF69"/>
                </a:solidFill>
                <a:latin typeface="Consolas" pitchFamily="34" charset="0"/>
                <a:ea typeface="Consolas" pitchFamily="34" charset="-122"/>
                <a:cs typeface="Consolas" pitchFamily="34" charset="-120"/>
              </a:rPr>
              <a:t>PER ACTION</a:t>
            </a:r>
            <a:endParaRPr lang="en-US" sz="1000" dirty="0"/>
          </a:p>
        </p:txBody>
      </p:sp>
      <p:sp>
        <p:nvSpPr>
          <p:cNvPr id="41" name="Text 33"/>
          <p:cNvSpPr txBox="1"/>
          <p:nvPr/>
        </p:nvSpPr>
        <p:spPr>
          <a:xfrm>
            <a:off x="7854696" y="3621024"/>
            <a:ext cx="1152144" cy="365760"/>
          </a:xfrm>
          <a:prstGeom prst="rect">
            <a:avLst/>
          </a:prstGeom>
          <a:noFill/>
          <a:ln/>
        </p:spPr>
        <p:txBody>
          <a:bodyPr wrap="square" lIns="0" tIns="0" rIns="0" bIns="0" rtlCol="0" anchor="t"/>
          <a:lstStyle/>
          <a:p>
            <a:pPr indent="0" marL="0">
              <a:buNone/>
            </a:pPr>
            <a:r>
              <a:rPr lang="en-US" sz="1300" dirty="0">
                <a:solidFill>
                  <a:srgbClr val="F3F7FC"/>
                </a:solidFill>
                <a:latin typeface="Segoe UI Semibold" pitchFamily="34" charset="0"/>
                <a:ea typeface="Segoe UI Semibold" pitchFamily="34" charset="-122"/>
                <a:cs typeface="Segoe UI Semibold" pitchFamily="34" charset="-120"/>
              </a:rPr>
              <a:t>Human decision</a:t>
            </a:r>
            <a:endParaRPr lang="en-US" sz="1300" dirty="0"/>
          </a:p>
        </p:txBody>
      </p:sp>
      <p:sp>
        <p:nvSpPr>
          <p:cNvPr id="42" name="Blocked"/>
          <p:cNvSpPr/>
          <p:nvPr/>
        </p:nvSpPr>
        <p:spPr>
          <a:xfrm>
            <a:off x="7726680" y="4443984"/>
            <a:ext cx="1371600" cy="896112"/>
          </a:xfrm>
          <a:prstGeom prst="roundRect">
            <a:avLst>
              <a:gd name="adj" fmla="val 10204"/>
            </a:avLst>
          </a:prstGeom>
          <a:solidFill>
            <a:srgbClr val="101827"/>
          </a:solidFill>
          <a:ln w="15875">
            <a:solidFill>
              <a:srgbClr val="FF5C70"/>
            </a:solidFill>
            <a:prstDash val="solid"/>
          </a:ln>
        </p:spPr>
      </p:sp>
      <p:pic>
        <p:nvPicPr>
          <p:cNvPr id="43" name="Image 6" descr="Blocked">    </p:cNvPr>
          <p:cNvPicPr>
            <a:picLocks noChangeAspect="1"/>
          </p:cNvPicPr>
          <p:nvPr/>
        </p:nvPicPr>
        <p:blipFill>
          <a:blip r:embed="rId8"/>
          <a:stretch>
            <a:fillRect/>
          </a:stretch>
        </p:blipFill>
        <p:spPr>
          <a:xfrm>
            <a:off x="7854696" y="4572000"/>
            <a:ext cx="274320" cy="274320"/>
          </a:xfrm>
          <a:prstGeom prst="rect">
            <a:avLst/>
          </a:prstGeom>
        </p:spPr>
      </p:pic>
      <p:sp>
        <p:nvSpPr>
          <p:cNvPr id="44" name="Text 35"/>
          <p:cNvSpPr txBox="1"/>
          <p:nvPr/>
        </p:nvSpPr>
        <p:spPr>
          <a:xfrm>
            <a:off x="8183880" y="4572000"/>
            <a:ext cx="841248" cy="274320"/>
          </a:xfrm>
          <a:prstGeom prst="rect">
            <a:avLst/>
          </a:prstGeom>
          <a:noFill/>
          <a:ln/>
        </p:spPr>
        <p:txBody>
          <a:bodyPr wrap="square" lIns="0" tIns="0" rIns="0" bIns="0" rtlCol="0" anchor="ctr"/>
          <a:lstStyle/>
          <a:p>
            <a:pPr indent="0" marL="0">
              <a:buNone/>
            </a:pPr>
            <a:r>
              <a:rPr lang="en-US" sz="1000" dirty="0">
                <a:solidFill>
                  <a:srgbClr val="FF5C70"/>
                </a:solidFill>
                <a:latin typeface="Consolas" pitchFamily="34" charset="0"/>
                <a:ea typeface="Consolas" pitchFamily="34" charset="-122"/>
                <a:cs typeface="Consolas" pitchFamily="34" charset="-120"/>
              </a:rPr>
              <a:t>NOT RUN</a:t>
            </a:r>
            <a:endParaRPr lang="en-US" sz="1000" dirty="0"/>
          </a:p>
        </p:txBody>
      </p:sp>
      <p:sp>
        <p:nvSpPr>
          <p:cNvPr id="45" name="Text 36"/>
          <p:cNvSpPr txBox="1"/>
          <p:nvPr/>
        </p:nvSpPr>
        <p:spPr>
          <a:xfrm>
            <a:off x="7854696" y="4901184"/>
            <a:ext cx="1152144" cy="365760"/>
          </a:xfrm>
          <a:prstGeom prst="rect">
            <a:avLst/>
          </a:prstGeom>
          <a:noFill/>
          <a:ln/>
        </p:spPr>
        <p:txBody>
          <a:bodyPr wrap="square" lIns="0" tIns="0" rIns="0" bIns="0" rtlCol="0" anchor="t"/>
          <a:lstStyle/>
          <a:p>
            <a:pPr indent="0" marL="0">
              <a:buNone/>
            </a:pPr>
            <a:r>
              <a:rPr lang="en-US" sz="1300" dirty="0">
                <a:solidFill>
                  <a:srgbClr val="F3F7FC"/>
                </a:solidFill>
                <a:latin typeface="Segoe UI Semibold" pitchFamily="34" charset="0"/>
                <a:ea typeface="Segoe UI Semibold" pitchFamily="34" charset="-122"/>
                <a:cs typeface="Segoe UI Semibold" pitchFamily="34" charset="-120"/>
              </a:rPr>
              <a:t>Blocked</a:t>
            </a:r>
            <a:endParaRPr lang="en-US" sz="1300" dirty="0"/>
          </a:p>
        </p:txBody>
      </p:sp>
      <p:sp>
        <p:nvSpPr>
          <p:cNvPr id="46" name="Shape 37"/>
          <p:cNvSpPr/>
          <p:nvPr/>
        </p:nvSpPr>
        <p:spPr>
          <a:xfrm flipV="1">
            <a:off x="8412480" y="2798064"/>
            <a:ext cx="91" cy="365760"/>
          </a:xfrm>
          <a:prstGeom prst="line">
            <a:avLst/>
          </a:prstGeom>
          <a:noFill/>
          <a:ln w="25400">
            <a:solidFill>
              <a:srgbClr val="FFBF69"/>
            </a:solidFill>
            <a:prstDash val="solid"/>
            <a:tailEnd type="triangle"/>
          </a:ln>
        </p:spPr>
      </p:sp>
      <p:sp>
        <p:nvSpPr>
          <p:cNvPr id="47" name="Text 38"/>
          <p:cNvSpPr txBox="1"/>
          <p:nvPr/>
        </p:nvSpPr>
        <p:spPr>
          <a:xfrm>
            <a:off x="8476488" y="2852928"/>
            <a:ext cx="731520" cy="237744"/>
          </a:xfrm>
          <a:prstGeom prst="rect">
            <a:avLst/>
          </a:prstGeom>
          <a:noFill/>
          <a:ln/>
        </p:spPr>
        <p:txBody>
          <a:bodyPr wrap="square" lIns="0" tIns="0" rIns="0" bIns="0" rtlCol="0" anchor="ctr"/>
          <a:lstStyle/>
          <a:p>
            <a:pPr indent="0" marL="0">
              <a:buNone/>
            </a:pPr>
            <a:r>
              <a:rPr lang="en-US" sz="1000" i="1" dirty="0">
                <a:solidFill>
                  <a:srgbClr val="FFBF69"/>
                </a:solidFill>
                <a:latin typeface="Segoe UI" pitchFamily="34" charset="0"/>
                <a:ea typeface="Segoe UI" pitchFamily="34" charset="-122"/>
                <a:cs typeface="Segoe UI" pitchFamily="34" charset="-120"/>
              </a:rPr>
              <a:t>approved</a:t>
            </a:r>
            <a:endParaRPr lang="en-US" sz="1000" dirty="0"/>
          </a:p>
        </p:txBody>
      </p:sp>
      <p:sp>
        <p:nvSpPr>
          <p:cNvPr id="48" name="Shape 39"/>
          <p:cNvSpPr/>
          <p:nvPr/>
        </p:nvSpPr>
        <p:spPr>
          <a:xfrm>
            <a:off x="9098280" y="2331720"/>
            <a:ext cx="228600" cy="91"/>
          </a:xfrm>
          <a:prstGeom prst="line">
            <a:avLst/>
          </a:prstGeom>
          <a:noFill/>
          <a:ln w="25400">
            <a:solidFill>
              <a:srgbClr val="52E5FF"/>
            </a:solidFill>
            <a:prstDash val="solid"/>
            <a:tailEnd type="triangle"/>
          </a:ln>
        </p:spPr>
      </p:sp>
      <p:sp>
        <p:nvSpPr>
          <p:cNvPr id="49" name="State verification"/>
          <p:cNvSpPr/>
          <p:nvPr/>
        </p:nvSpPr>
        <p:spPr>
          <a:xfrm>
            <a:off x="9326880" y="1883664"/>
            <a:ext cx="1280160" cy="896112"/>
          </a:xfrm>
          <a:prstGeom prst="roundRect">
            <a:avLst>
              <a:gd name="adj" fmla="val 10204"/>
            </a:avLst>
          </a:prstGeom>
          <a:solidFill>
            <a:srgbClr val="101827"/>
          </a:solidFill>
          <a:ln w="15875">
            <a:solidFill>
              <a:srgbClr val="52E5FF"/>
            </a:solidFill>
            <a:prstDash val="solid"/>
          </a:ln>
        </p:spPr>
      </p:sp>
      <p:pic>
        <p:nvPicPr>
          <p:cNvPr id="50" name="Image 7" descr="State verification">    </p:cNvPr>
          <p:cNvPicPr>
            <a:picLocks noChangeAspect="1"/>
          </p:cNvPicPr>
          <p:nvPr/>
        </p:nvPicPr>
        <p:blipFill>
          <a:blip r:embed="rId9"/>
          <a:stretch>
            <a:fillRect/>
          </a:stretch>
        </p:blipFill>
        <p:spPr>
          <a:xfrm>
            <a:off x="9454896" y="2011680"/>
            <a:ext cx="274320" cy="274320"/>
          </a:xfrm>
          <a:prstGeom prst="rect">
            <a:avLst/>
          </a:prstGeom>
        </p:spPr>
      </p:pic>
      <p:sp>
        <p:nvSpPr>
          <p:cNvPr id="51" name="Text 41"/>
          <p:cNvSpPr txBox="1"/>
          <p:nvPr/>
        </p:nvSpPr>
        <p:spPr>
          <a:xfrm>
            <a:off x="9784080" y="2011680"/>
            <a:ext cx="749808" cy="274320"/>
          </a:xfrm>
          <a:prstGeom prst="rect">
            <a:avLst/>
          </a:prstGeom>
          <a:noFill/>
          <a:ln/>
        </p:spPr>
        <p:txBody>
          <a:bodyPr wrap="square" lIns="0" tIns="0" rIns="0" bIns="0" rtlCol="0" anchor="ctr"/>
          <a:lstStyle/>
          <a:p>
            <a:pPr indent="0" marL="0">
              <a:buNone/>
            </a:pPr>
            <a:r>
              <a:rPr lang="en-US" sz="1000" dirty="0">
                <a:solidFill>
                  <a:srgbClr val="52E5FF"/>
                </a:solidFill>
                <a:latin typeface="Consolas" pitchFamily="34" charset="0"/>
                <a:ea typeface="Consolas" pitchFamily="34" charset="-122"/>
                <a:cs typeface="Consolas" pitchFamily="34" charset="-120"/>
              </a:rPr>
              <a:t>AUDITOR</a:t>
            </a:r>
            <a:endParaRPr lang="en-US" sz="1000" dirty="0"/>
          </a:p>
        </p:txBody>
      </p:sp>
      <p:sp>
        <p:nvSpPr>
          <p:cNvPr id="52" name="Text 42"/>
          <p:cNvSpPr txBox="1"/>
          <p:nvPr/>
        </p:nvSpPr>
        <p:spPr>
          <a:xfrm>
            <a:off x="9454896" y="2340864"/>
            <a:ext cx="1060704" cy="365760"/>
          </a:xfrm>
          <a:prstGeom prst="rect">
            <a:avLst/>
          </a:prstGeom>
          <a:noFill/>
          <a:ln/>
        </p:spPr>
        <p:txBody>
          <a:bodyPr wrap="square" lIns="0" tIns="0" rIns="0" bIns="0" rtlCol="0" anchor="t"/>
          <a:lstStyle/>
          <a:p>
            <a:pPr indent="0" marL="0">
              <a:buNone/>
            </a:pPr>
            <a:r>
              <a:rPr lang="en-US" sz="1300" dirty="0">
                <a:solidFill>
                  <a:srgbClr val="F3F7FC"/>
                </a:solidFill>
                <a:latin typeface="Segoe UI Semibold" pitchFamily="34" charset="0"/>
                <a:ea typeface="Segoe UI Semibold" pitchFamily="34" charset="-122"/>
                <a:cs typeface="Segoe UI Semibold" pitchFamily="34" charset="-120"/>
              </a:rPr>
              <a:t>State verification</a:t>
            </a:r>
            <a:endParaRPr lang="en-US" sz="1300" dirty="0"/>
          </a:p>
        </p:txBody>
      </p:sp>
      <p:sp>
        <p:nvSpPr>
          <p:cNvPr id="53" name="Audit trail"/>
          <p:cNvSpPr/>
          <p:nvPr/>
        </p:nvSpPr>
        <p:spPr>
          <a:xfrm>
            <a:off x="10771632" y="1883664"/>
            <a:ext cx="896112" cy="3456432"/>
          </a:xfrm>
          <a:prstGeom prst="roundRect">
            <a:avLst>
              <a:gd name="adj" fmla="val 10204"/>
            </a:avLst>
          </a:prstGeom>
          <a:solidFill>
            <a:srgbClr val="101827"/>
          </a:solidFill>
          <a:ln w="15875">
            <a:solidFill>
              <a:srgbClr val="52E5FF"/>
            </a:solidFill>
            <a:prstDash val="solid"/>
          </a:ln>
        </p:spPr>
      </p:sp>
      <p:pic>
        <p:nvPicPr>
          <p:cNvPr id="54" name="Image 8" descr="Audit trail">    </p:cNvPr>
          <p:cNvPicPr>
            <a:picLocks noChangeAspect="1"/>
          </p:cNvPicPr>
          <p:nvPr/>
        </p:nvPicPr>
        <p:blipFill>
          <a:blip r:embed="rId10"/>
          <a:stretch>
            <a:fillRect/>
          </a:stretch>
        </p:blipFill>
        <p:spPr>
          <a:xfrm>
            <a:off x="11045952" y="2029968"/>
            <a:ext cx="320040" cy="320040"/>
          </a:xfrm>
          <a:prstGeom prst="rect">
            <a:avLst/>
          </a:prstGeom>
        </p:spPr>
      </p:pic>
      <p:sp>
        <p:nvSpPr>
          <p:cNvPr id="55" name="Text 44"/>
          <p:cNvSpPr txBox="1"/>
          <p:nvPr/>
        </p:nvSpPr>
        <p:spPr>
          <a:xfrm>
            <a:off x="10817352" y="2414016"/>
            <a:ext cx="804672" cy="548640"/>
          </a:xfrm>
          <a:prstGeom prst="rect">
            <a:avLst/>
          </a:prstGeom>
          <a:noFill/>
          <a:ln/>
        </p:spPr>
        <p:txBody>
          <a:bodyPr wrap="square" lIns="0" tIns="0" rIns="0" bIns="0" rtlCol="0" anchor="ctr"/>
          <a:lstStyle/>
          <a:p>
            <a:pPr algn="ctr" indent="0" marL="0">
              <a:buNone/>
            </a:pPr>
            <a:r>
              <a:rPr lang="en-US" sz="1300" dirty="0">
                <a:solidFill>
                  <a:srgbClr val="F3F7FC"/>
                </a:solidFill>
                <a:latin typeface="Segoe UI Semibold" pitchFamily="34" charset="0"/>
                <a:ea typeface="Segoe UI Semibold" pitchFamily="34" charset="-122"/>
                <a:cs typeface="Segoe UI Semibold" pitchFamily="34" charset="-120"/>
              </a:rPr>
              <a:t>Audit trail</a:t>
            </a:r>
            <a:endParaRPr lang="en-US" sz="1300" dirty="0"/>
          </a:p>
        </p:txBody>
      </p:sp>
      <p:sp>
        <p:nvSpPr>
          <p:cNvPr id="56" name="Shape 45"/>
          <p:cNvSpPr/>
          <p:nvPr/>
        </p:nvSpPr>
        <p:spPr>
          <a:xfrm>
            <a:off x="10890504" y="3172968"/>
            <a:ext cx="109728" cy="109728"/>
          </a:xfrm>
          <a:prstGeom prst="ellipse">
            <a:avLst/>
          </a:prstGeom>
          <a:solidFill>
            <a:srgbClr val="52E5FF"/>
          </a:solidFill>
          <a:ln w="12700">
            <a:solidFill>
              <a:srgbClr val="52E5FF"/>
            </a:solidFill>
            <a:prstDash val="solid"/>
          </a:ln>
        </p:spPr>
      </p:sp>
      <p:sp>
        <p:nvSpPr>
          <p:cNvPr id="57" name="Text 46"/>
          <p:cNvSpPr txBox="1"/>
          <p:nvPr/>
        </p:nvSpPr>
        <p:spPr>
          <a:xfrm>
            <a:off x="11045952" y="3108960"/>
            <a:ext cx="603504" cy="237744"/>
          </a:xfrm>
          <a:prstGeom prst="rect">
            <a:avLst/>
          </a:prstGeom>
          <a:noFill/>
          <a:ln/>
        </p:spPr>
        <p:txBody>
          <a:bodyPr wrap="square" lIns="0" tIns="0" rIns="0" bIns="0" rtlCol="0" anchor="ctr"/>
          <a:lstStyle/>
          <a:p>
            <a:pPr indent="0" marL="0">
              <a:buNone/>
            </a:pPr>
            <a:r>
              <a:rPr lang="en-US" sz="1000" dirty="0">
                <a:solidFill>
                  <a:srgbClr val="8795A8"/>
                </a:solidFill>
                <a:latin typeface="Consolas" pitchFamily="34" charset="0"/>
                <a:ea typeface="Consolas" pitchFamily="34" charset="-122"/>
                <a:cs typeface="Consolas" pitchFamily="34" charset="-120"/>
              </a:rPr>
              <a:t>VERIFIED</a:t>
            </a:r>
            <a:endParaRPr lang="en-US" sz="1000" dirty="0"/>
          </a:p>
        </p:txBody>
      </p:sp>
      <p:sp>
        <p:nvSpPr>
          <p:cNvPr id="58" name="Shape 47"/>
          <p:cNvSpPr/>
          <p:nvPr/>
        </p:nvSpPr>
        <p:spPr>
          <a:xfrm>
            <a:off x="10890504" y="3630168"/>
            <a:ext cx="109728" cy="109728"/>
          </a:xfrm>
          <a:prstGeom prst="ellipse">
            <a:avLst/>
          </a:prstGeom>
          <a:solidFill>
            <a:srgbClr val="FFBF69"/>
          </a:solidFill>
          <a:ln w="12700">
            <a:solidFill>
              <a:srgbClr val="FFBF69"/>
            </a:solidFill>
            <a:prstDash val="solid"/>
          </a:ln>
        </p:spPr>
      </p:sp>
      <p:sp>
        <p:nvSpPr>
          <p:cNvPr id="59" name="Text 48"/>
          <p:cNvSpPr txBox="1"/>
          <p:nvPr/>
        </p:nvSpPr>
        <p:spPr>
          <a:xfrm>
            <a:off x="11045952" y="3566160"/>
            <a:ext cx="603504" cy="237744"/>
          </a:xfrm>
          <a:prstGeom prst="rect">
            <a:avLst/>
          </a:prstGeom>
          <a:noFill/>
          <a:ln/>
        </p:spPr>
        <p:txBody>
          <a:bodyPr wrap="square" lIns="0" tIns="0" rIns="0" bIns="0" rtlCol="0" anchor="ctr"/>
          <a:lstStyle/>
          <a:p>
            <a:pPr indent="0" marL="0">
              <a:buNone/>
            </a:pPr>
            <a:r>
              <a:rPr lang="en-US" sz="1000" dirty="0">
                <a:solidFill>
                  <a:srgbClr val="8795A8"/>
                </a:solidFill>
                <a:latin typeface="Consolas" pitchFamily="34" charset="0"/>
                <a:ea typeface="Consolas" pitchFamily="34" charset="-122"/>
                <a:cs typeface="Consolas" pitchFamily="34" charset="-120"/>
              </a:rPr>
              <a:t>AWAITING</a:t>
            </a:r>
            <a:endParaRPr lang="en-US" sz="1000" dirty="0"/>
          </a:p>
        </p:txBody>
      </p:sp>
      <p:sp>
        <p:nvSpPr>
          <p:cNvPr id="60" name="Shape 49"/>
          <p:cNvSpPr/>
          <p:nvPr/>
        </p:nvSpPr>
        <p:spPr>
          <a:xfrm>
            <a:off x="10890504" y="4087368"/>
            <a:ext cx="109728" cy="109728"/>
          </a:xfrm>
          <a:prstGeom prst="ellipse">
            <a:avLst/>
          </a:prstGeom>
          <a:solidFill>
            <a:srgbClr val="FF5C70"/>
          </a:solidFill>
          <a:ln w="12700">
            <a:solidFill>
              <a:srgbClr val="FF5C70"/>
            </a:solidFill>
            <a:prstDash val="solid"/>
          </a:ln>
        </p:spPr>
      </p:sp>
      <p:sp>
        <p:nvSpPr>
          <p:cNvPr id="61" name="Text 50"/>
          <p:cNvSpPr txBox="1"/>
          <p:nvPr/>
        </p:nvSpPr>
        <p:spPr>
          <a:xfrm>
            <a:off x="11045952" y="4023360"/>
            <a:ext cx="603504" cy="237744"/>
          </a:xfrm>
          <a:prstGeom prst="rect">
            <a:avLst/>
          </a:prstGeom>
          <a:noFill/>
          <a:ln/>
        </p:spPr>
        <p:txBody>
          <a:bodyPr wrap="square" lIns="0" tIns="0" rIns="0" bIns="0" rtlCol="0" anchor="ctr"/>
          <a:lstStyle/>
          <a:p>
            <a:pPr indent="0" marL="0">
              <a:buNone/>
            </a:pPr>
            <a:r>
              <a:rPr lang="en-US" sz="1000" dirty="0">
                <a:solidFill>
                  <a:srgbClr val="8795A8"/>
                </a:solidFill>
                <a:latin typeface="Consolas" pitchFamily="34" charset="0"/>
                <a:ea typeface="Consolas" pitchFamily="34" charset="-122"/>
                <a:cs typeface="Consolas" pitchFamily="34" charset="-120"/>
              </a:rPr>
              <a:t>BLOCKED</a:t>
            </a:r>
            <a:endParaRPr lang="en-US" sz="1000" dirty="0"/>
          </a:p>
        </p:txBody>
      </p:sp>
      <p:sp>
        <p:nvSpPr>
          <p:cNvPr id="62" name="Shape 51"/>
          <p:cNvSpPr/>
          <p:nvPr/>
        </p:nvSpPr>
        <p:spPr>
          <a:xfrm>
            <a:off x="10890504" y="4544568"/>
            <a:ext cx="109728" cy="109728"/>
          </a:xfrm>
          <a:prstGeom prst="ellipse">
            <a:avLst/>
          </a:prstGeom>
          <a:solidFill>
            <a:srgbClr val="52E5FF"/>
          </a:solidFill>
          <a:ln w="12700">
            <a:solidFill>
              <a:srgbClr val="52E5FF"/>
            </a:solidFill>
            <a:prstDash val="solid"/>
          </a:ln>
        </p:spPr>
      </p:sp>
      <p:sp>
        <p:nvSpPr>
          <p:cNvPr id="63" name="Text 52"/>
          <p:cNvSpPr txBox="1"/>
          <p:nvPr/>
        </p:nvSpPr>
        <p:spPr>
          <a:xfrm>
            <a:off x="11045952" y="4480560"/>
            <a:ext cx="603504" cy="237744"/>
          </a:xfrm>
          <a:prstGeom prst="rect">
            <a:avLst/>
          </a:prstGeom>
          <a:noFill/>
          <a:ln/>
        </p:spPr>
        <p:txBody>
          <a:bodyPr wrap="square" lIns="0" tIns="0" rIns="0" bIns="0" rtlCol="0" anchor="ctr"/>
          <a:lstStyle/>
          <a:p>
            <a:pPr indent="0" marL="0">
              <a:buNone/>
            </a:pPr>
            <a:r>
              <a:rPr lang="en-US" sz="1000" dirty="0">
                <a:solidFill>
                  <a:srgbClr val="8795A8"/>
                </a:solidFill>
                <a:latin typeface="Consolas" pitchFamily="34" charset="0"/>
                <a:ea typeface="Consolas" pitchFamily="34" charset="-122"/>
                <a:cs typeface="Consolas" pitchFamily="34" charset="-120"/>
              </a:rPr>
              <a:t>VERIFIED</a:t>
            </a:r>
            <a:endParaRPr lang="en-US" sz="1000" dirty="0"/>
          </a:p>
        </p:txBody>
      </p:sp>
      <p:sp>
        <p:nvSpPr>
          <p:cNvPr id="64" name="Shape 53"/>
          <p:cNvSpPr/>
          <p:nvPr/>
        </p:nvSpPr>
        <p:spPr>
          <a:xfrm>
            <a:off x="10607040" y="2331720"/>
            <a:ext cx="164592" cy="91"/>
          </a:xfrm>
          <a:prstGeom prst="line">
            <a:avLst/>
          </a:prstGeom>
          <a:noFill/>
          <a:ln w="25400">
            <a:solidFill>
              <a:srgbClr val="52E5FF"/>
            </a:solidFill>
            <a:prstDash val="solid"/>
            <a:tailEnd type="triangle"/>
          </a:ln>
        </p:spPr>
      </p:sp>
      <p:sp>
        <p:nvSpPr>
          <p:cNvPr id="65" name="Shape 54"/>
          <p:cNvSpPr/>
          <p:nvPr/>
        </p:nvSpPr>
        <p:spPr>
          <a:xfrm>
            <a:off x="9098280" y="3611880"/>
            <a:ext cx="1673352" cy="91"/>
          </a:xfrm>
          <a:prstGeom prst="line">
            <a:avLst/>
          </a:prstGeom>
          <a:noFill/>
          <a:ln w="15875">
            <a:solidFill>
              <a:srgbClr val="FFBF69">
                <a:alpha val="80000"/>
              </a:srgbClr>
            </a:solidFill>
            <a:prstDash val="dash"/>
            <a:tailEnd type="triangle"/>
          </a:ln>
        </p:spPr>
      </p:sp>
      <p:sp>
        <p:nvSpPr>
          <p:cNvPr id="66" name="Text 55"/>
          <p:cNvSpPr txBox="1"/>
          <p:nvPr/>
        </p:nvSpPr>
        <p:spPr>
          <a:xfrm>
            <a:off x="9208008" y="3319272"/>
            <a:ext cx="1645920" cy="237744"/>
          </a:xfrm>
          <a:prstGeom prst="rect">
            <a:avLst/>
          </a:prstGeom>
          <a:noFill/>
          <a:ln/>
        </p:spPr>
        <p:txBody>
          <a:bodyPr wrap="square" lIns="0" tIns="0" rIns="0" bIns="0" rtlCol="0" anchor="ctr"/>
          <a:lstStyle/>
          <a:p>
            <a:pPr indent="0" marL="0">
              <a:buNone/>
            </a:pPr>
            <a:r>
              <a:rPr lang="en-US" sz="1000" i="1" dirty="0">
                <a:solidFill>
                  <a:srgbClr val="FFBF69"/>
                </a:solidFill>
                <a:latin typeface="Segoe UI" pitchFamily="34" charset="0"/>
                <a:ea typeface="Segoe UI" pitchFamily="34" charset="-122"/>
                <a:cs typeface="Segoe UI" pitchFamily="34" charset="-120"/>
              </a:rPr>
              <a:t>rejected · recorded</a:t>
            </a:r>
            <a:endParaRPr lang="en-US" sz="1000" dirty="0"/>
          </a:p>
        </p:txBody>
      </p:sp>
      <p:sp>
        <p:nvSpPr>
          <p:cNvPr id="67" name="Shape 56"/>
          <p:cNvSpPr/>
          <p:nvPr/>
        </p:nvSpPr>
        <p:spPr>
          <a:xfrm>
            <a:off x="9098280" y="4892040"/>
            <a:ext cx="1673352" cy="91"/>
          </a:xfrm>
          <a:prstGeom prst="line">
            <a:avLst/>
          </a:prstGeom>
          <a:noFill/>
          <a:ln w="15875">
            <a:solidFill>
              <a:srgbClr val="FF5C70">
                <a:alpha val="80000"/>
              </a:srgbClr>
            </a:solidFill>
            <a:prstDash val="dash"/>
            <a:tailEnd type="triangle"/>
          </a:ln>
        </p:spPr>
      </p:sp>
      <p:sp>
        <p:nvSpPr>
          <p:cNvPr id="68" name="Text 57"/>
          <p:cNvSpPr txBox="1"/>
          <p:nvPr/>
        </p:nvSpPr>
        <p:spPr>
          <a:xfrm>
            <a:off x="9208008" y="4599432"/>
            <a:ext cx="1371600" cy="237744"/>
          </a:xfrm>
          <a:prstGeom prst="rect">
            <a:avLst/>
          </a:prstGeom>
          <a:noFill/>
          <a:ln/>
        </p:spPr>
        <p:txBody>
          <a:bodyPr wrap="square" lIns="0" tIns="0" rIns="0" bIns="0" rtlCol="0" anchor="ctr"/>
          <a:lstStyle/>
          <a:p>
            <a:pPr indent="0" marL="0">
              <a:buNone/>
            </a:pPr>
            <a:r>
              <a:rPr lang="en-US" sz="1000" i="1" dirty="0">
                <a:solidFill>
                  <a:srgbClr val="FF5C70"/>
                </a:solidFill>
                <a:latin typeface="Segoe UI" pitchFamily="34" charset="0"/>
                <a:ea typeface="Segoe UI" pitchFamily="34" charset="-122"/>
                <a:cs typeface="Segoe UI" pitchFamily="34" charset="-120"/>
              </a:rPr>
              <a:t>recorded</a:t>
            </a:r>
            <a:endParaRPr lang="en-US" sz="1000" dirty="0"/>
          </a:p>
        </p:txBody>
      </p:sp>
      <p:sp>
        <p:nvSpPr>
          <p:cNvPr id="69" name="Text 58"/>
          <p:cNvSpPr txBox="1"/>
          <p:nvPr/>
        </p:nvSpPr>
        <p:spPr>
          <a:xfrm>
            <a:off x="640080" y="5669280"/>
            <a:ext cx="10881360" cy="384048"/>
          </a:xfrm>
          <a:prstGeom prst="rect">
            <a:avLst/>
          </a:prstGeom>
          <a:noFill/>
          <a:ln/>
        </p:spPr>
        <p:txBody>
          <a:bodyPr wrap="square" lIns="0" tIns="0" rIns="0" bIns="0" rtlCol="0" anchor="ctr"/>
          <a:lstStyle/>
          <a:p>
            <a:pPr algn="ctr" indent="0" marL="0">
              <a:buNone/>
            </a:pPr>
            <a:r>
              <a:rPr lang="en-US" sz="1500" spc="100" kern="0" dirty="0">
                <a:solidFill>
                  <a:srgbClr val="F3F7FC"/>
                </a:solidFill>
                <a:latin typeface="Consolas" pitchFamily="34" charset="0"/>
                <a:ea typeface="Consolas" pitchFamily="34" charset="-122"/>
                <a:cs typeface="Consolas" pitchFamily="34" charset="-120"/>
              </a:rPr>
              <a:t>Propose</a:t>
            </a:r>
            <a:pPr algn="ctr" indent="0" marL="0">
              <a:buNone/>
            </a:pPr>
            <a:r>
              <a:rPr lang="en-US" sz="1500" spc="100" kern="0" dirty="0">
                <a:solidFill>
                  <a:srgbClr val="52E5FF"/>
                </a:solidFill>
                <a:latin typeface="Consolas" pitchFamily="34" charset="0"/>
                <a:ea typeface="Consolas" pitchFamily="34" charset="-122"/>
                <a:cs typeface="Consolas" pitchFamily="34" charset="-120"/>
              </a:rPr>
              <a:t>   →   </a:t>
            </a:r>
            <a:pPr algn="ctr" indent="0" marL="0">
              <a:buNone/>
            </a:pPr>
            <a:r>
              <a:rPr lang="en-US" sz="1500" spc="100" kern="0" dirty="0">
                <a:solidFill>
                  <a:srgbClr val="F3F7FC"/>
                </a:solidFill>
                <a:latin typeface="Consolas" pitchFamily="34" charset="0"/>
                <a:ea typeface="Consolas" pitchFamily="34" charset="-122"/>
                <a:cs typeface="Consolas" pitchFamily="34" charset="-120"/>
              </a:rPr>
              <a:t>Decide</a:t>
            </a:r>
            <a:pPr algn="ctr" indent="0" marL="0">
              <a:buNone/>
            </a:pPr>
            <a:r>
              <a:rPr lang="en-US" sz="1500" spc="100" kern="0" dirty="0">
                <a:solidFill>
                  <a:srgbClr val="52E5FF"/>
                </a:solidFill>
                <a:latin typeface="Consolas" pitchFamily="34" charset="0"/>
                <a:ea typeface="Consolas" pitchFamily="34" charset="-122"/>
                <a:cs typeface="Consolas" pitchFamily="34" charset="-120"/>
              </a:rPr>
              <a:t>   →   </a:t>
            </a:r>
            <a:pPr algn="ctr" indent="0" marL="0">
              <a:buNone/>
            </a:pPr>
            <a:r>
              <a:rPr lang="en-US" sz="1500" spc="100" kern="0" dirty="0">
                <a:solidFill>
                  <a:srgbClr val="F3F7FC"/>
                </a:solidFill>
                <a:latin typeface="Consolas" pitchFamily="34" charset="0"/>
                <a:ea typeface="Consolas" pitchFamily="34" charset="-122"/>
                <a:cs typeface="Consolas" pitchFamily="34" charset="-120"/>
              </a:rPr>
              <a:t>Authorize</a:t>
            </a:r>
            <a:pPr algn="ctr" indent="0" marL="0">
              <a:buNone/>
            </a:pPr>
            <a:r>
              <a:rPr lang="en-US" sz="1500" spc="100" kern="0" dirty="0">
                <a:solidFill>
                  <a:srgbClr val="52E5FF"/>
                </a:solidFill>
                <a:latin typeface="Consolas" pitchFamily="34" charset="0"/>
                <a:ea typeface="Consolas" pitchFamily="34" charset="-122"/>
                <a:cs typeface="Consolas" pitchFamily="34" charset="-120"/>
              </a:rPr>
              <a:t>   →   </a:t>
            </a:r>
            <a:pPr algn="ctr" indent="0" marL="0">
              <a:buNone/>
            </a:pPr>
            <a:r>
              <a:rPr lang="en-US" sz="1500" spc="100" kern="0" dirty="0">
                <a:solidFill>
                  <a:srgbClr val="F3F7FC"/>
                </a:solidFill>
                <a:latin typeface="Consolas" pitchFamily="34" charset="0"/>
                <a:ea typeface="Consolas" pitchFamily="34" charset="-122"/>
                <a:cs typeface="Consolas" pitchFamily="34" charset="-120"/>
              </a:rPr>
              <a:t>Execute</a:t>
            </a:r>
            <a:pPr algn="ctr" indent="0" marL="0">
              <a:buNone/>
            </a:pPr>
            <a:r>
              <a:rPr lang="en-US" sz="1500" spc="100" kern="0" dirty="0">
                <a:solidFill>
                  <a:srgbClr val="52E5FF"/>
                </a:solidFill>
                <a:latin typeface="Consolas" pitchFamily="34" charset="0"/>
                <a:ea typeface="Consolas" pitchFamily="34" charset="-122"/>
                <a:cs typeface="Consolas" pitchFamily="34" charset="-120"/>
              </a:rPr>
              <a:t>   →   </a:t>
            </a:r>
            <a:pPr algn="ctr" indent="0" marL="0">
              <a:buNone/>
            </a:pPr>
            <a:r>
              <a:rPr lang="en-US" sz="1500" spc="100" kern="0" dirty="0">
                <a:solidFill>
                  <a:srgbClr val="F3F7FC"/>
                </a:solidFill>
                <a:latin typeface="Consolas" pitchFamily="34" charset="0"/>
                <a:ea typeface="Consolas" pitchFamily="34" charset="-122"/>
                <a:cs typeface="Consolas" pitchFamily="34" charset="-120"/>
              </a:rPr>
              <a:t>Verify</a:t>
            </a:r>
            <a:endParaRPr lang="en-US" sz="1500" dirty="0"/>
          </a:p>
        </p:txBody>
      </p:sp>
      <p:sp>
        <p:nvSpPr>
          <p:cNvPr id="25" name="Slide Number Placeholder 0"/>
          <p:cNvSpPr>
            <a:spLocks noGrp="1"/>
          </p:cNvSpPr>
          <p:nvPr>
            <p:ph type="sldNum" sz="quarter" idx="4294967295"/>
          </p:nvPr>
        </p:nvSpPr>
        <p:spPr>
          <a:xfrm>
            <a:off x="1106424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384048"/>
            <a:ext cx="7315200" cy="292608"/>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nsolas" pitchFamily="34" charset="0"/>
                <a:ea typeface="Consolas" pitchFamily="34" charset="-122"/>
                <a:cs typeface="Consolas" pitchFamily="34" charset="-120"/>
              </a:rPr>
              <a:t>04 · LIVE DEMO · NORTHSTAR ENGINEERING</a:t>
            </a:r>
            <a:endParaRPr lang="en-US" sz="1200" dirty="0"/>
          </a:p>
        </p:txBody>
      </p:sp>
      <p:sp>
        <p:nvSpPr>
          <p:cNvPr id="3" name="Text 0"/>
          <p:cNvSpPr/>
          <p:nvPr>
            <p:ph idx="101" type="title" hasCustomPrompt="1"/>
          </p:nvPr>
        </p:nvSpPr>
        <p:spPr>
          <a:xfrm>
            <a:off x="640080" y="694944"/>
            <a:ext cx="10881360" cy="713232"/>
          </a:xfrm>
          <a:prstGeom prst="rect">
            <a:avLst/>
          </a:prstGeom>
          <a:noFill/>
          <a:ln/>
        </p:spPr>
        <p:txBody>
          <a:bodyPr wrap="square" lIns="0" tIns="0" rIns="0" bIns="0" rtlCol="0" anchor="ctr"/>
          <a:lstStyle/>
          <a:p>
            <a:pPr algn="l" indent="0" marL="0">
              <a:buNone/>
            </a:pPr>
            <a:r>
              <a:rPr lang="en-US" sz="3200" dirty="0">
                <a:solidFill>
                  <a:schemeClr val="bg1"/>
                </a:solidFill>
                <a:latin typeface="Segoe UI Semibold" pitchFamily="34" charset="0"/>
                <a:ea typeface="Segoe UI Semibold" pitchFamily="34" charset="-122"/>
                <a:cs typeface="Segoe UI Semibold" pitchFamily="34" charset="-120"/>
              </a:rPr>
              <a:t>Same agent. Different requests. Different outcomes</a:t>
            </a:r>
            <a:endParaRPr lang="en-US" sz="3200" dirty="0"/>
          </a:p>
        </p:txBody>
      </p:sp>
      <p:sp>
        <p:nvSpPr>
          <p:cNvPr id="4" name="Card 01"/>
          <p:cNvSpPr/>
          <p:nvPr/>
        </p:nvSpPr>
        <p:spPr>
          <a:xfrm>
            <a:off x="640080" y="1691640"/>
            <a:ext cx="2084832" cy="3108960"/>
          </a:xfrm>
          <a:prstGeom prst="roundRect">
            <a:avLst>
              <a:gd name="adj" fmla="val 5263"/>
            </a:avLst>
          </a:prstGeom>
          <a:solidFill>
            <a:srgbClr val="0E1522">
              <a:alpha val="90000"/>
            </a:srgbClr>
          </a:solidFill>
          <a:ln w="12700">
            <a:solidFill>
              <a:srgbClr val="52E5FF">
                <a:alpha val="45000"/>
              </a:srgbClr>
            </a:solidFill>
            <a:prstDash val="solid"/>
          </a:ln>
        </p:spPr>
      </p:sp>
      <p:sp>
        <p:nvSpPr>
          <p:cNvPr id="5" name="Text 3"/>
          <p:cNvSpPr txBox="1"/>
          <p:nvPr/>
        </p:nvSpPr>
        <p:spPr>
          <a:xfrm>
            <a:off x="841248" y="1874520"/>
            <a:ext cx="548640" cy="274320"/>
          </a:xfrm>
          <a:prstGeom prst="rect">
            <a:avLst/>
          </a:prstGeom>
          <a:noFill/>
          <a:ln/>
        </p:spPr>
        <p:txBody>
          <a:bodyPr wrap="square" lIns="0" tIns="0" rIns="0" bIns="0" rtlCol="0" anchor="ctr"/>
          <a:lstStyle/>
          <a:p>
            <a:pPr indent="0" marL="0">
              <a:buNone/>
            </a:pPr>
            <a:r>
              <a:rPr lang="en-US" sz="1200" dirty="0">
                <a:solidFill>
                  <a:srgbClr val="8795A8"/>
                </a:solidFill>
                <a:latin typeface="Consolas" pitchFamily="34" charset="0"/>
                <a:ea typeface="Consolas" pitchFamily="34" charset="-122"/>
                <a:cs typeface="Consolas" pitchFamily="34" charset="-120"/>
              </a:rPr>
              <a:t>01</a:t>
            </a:r>
            <a:endParaRPr lang="en-US" sz="1200" dirty="0"/>
          </a:p>
        </p:txBody>
      </p:sp>
      <p:sp>
        <p:nvSpPr>
          <p:cNvPr id="6" name="Shape 4"/>
          <p:cNvSpPr/>
          <p:nvPr/>
        </p:nvSpPr>
        <p:spPr>
          <a:xfrm>
            <a:off x="1975104" y="1874520"/>
            <a:ext cx="548640" cy="548640"/>
          </a:xfrm>
          <a:prstGeom prst="ellipse">
            <a:avLst/>
          </a:prstGeom>
          <a:solidFill>
            <a:srgbClr val="52E5FF">
              <a:alpha val="15000"/>
            </a:srgbClr>
          </a:solidFill>
          <a:ln w="15875">
            <a:solidFill>
              <a:srgbClr val="52E5FF">
                <a:alpha val="80000"/>
              </a:srgbClr>
            </a:solidFill>
            <a:prstDash val="solid"/>
          </a:ln>
        </p:spPr>
      </p:sp>
      <p:pic>
        <p:nvPicPr>
          <p:cNvPr id="7" name="Image 0" descr="INSPECT">    </p:cNvPr>
          <p:cNvPicPr>
            <a:picLocks noChangeAspect="1"/>
          </p:cNvPicPr>
          <p:nvPr/>
        </p:nvPicPr>
        <p:blipFill>
          <a:blip r:embed="rId2"/>
          <a:stretch>
            <a:fillRect/>
          </a:stretch>
        </p:blipFill>
        <p:spPr>
          <a:xfrm>
            <a:off x="2112264" y="2011680"/>
            <a:ext cx="274320" cy="274320"/>
          </a:xfrm>
          <a:prstGeom prst="rect">
            <a:avLst/>
          </a:prstGeom>
        </p:spPr>
      </p:pic>
      <p:sp>
        <p:nvSpPr>
          <p:cNvPr id="8" name="Text 5"/>
          <p:cNvSpPr txBox="1"/>
          <p:nvPr/>
        </p:nvSpPr>
        <p:spPr>
          <a:xfrm>
            <a:off x="841248" y="2532888"/>
            <a:ext cx="1719072" cy="411480"/>
          </a:xfrm>
          <a:prstGeom prst="rect">
            <a:avLst/>
          </a:prstGeom>
          <a:noFill/>
          <a:ln/>
        </p:spPr>
        <p:txBody>
          <a:bodyPr wrap="square" lIns="0" tIns="0" rIns="0" bIns="0" rtlCol="0" anchor="ctr"/>
          <a:lstStyle/>
          <a:p>
            <a:pPr indent="0" marL="0">
              <a:buNone/>
            </a:pPr>
            <a:r>
              <a:rPr lang="en-US" sz="2100" spc="300" kern="0" dirty="0">
                <a:solidFill>
                  <a:srgbClr val="F3F7FC"/>
                </a:solidFill>
                <a:latin typeface="Bahnschrift SemiBold" pitchFamily="34" charset="0"/>
                <a:ea typeface="Bahnschrift SemiBold" pitchFamily="34" charset="-122"/>
                <a:cs typeface="Bahnschrift SemiBold" pitchFamily="34" charset="-120"/>
              </a:rPr>
              <a:t>INSPECT</a:t>
            </a:r>
            <a:endParaRPr lang="en-US" sz="2100" dirty="0"/>
          </a:p>
        </p:txBody>
      </p:sp>
      <p:sp>
        <p:nvSpPr>
          <p:cNvPr id="9" name="Text 6"/>
          <p:cNvSpPr txBox="1"/>
          <p:nvPr/>
        </p:nvSpPr>
        <p:spPr>
          <a:xfrm>
            <a:off x="841248" y="2990088"/>
            <a:ext cx="1700784" cy="685800"/>
          </a:xfrm>
          <a:prstGeom prst="rect">
            <a:avLst/>
          </a:prstGeom>
          <a:noFill/>
          <a:ln/>
        </p:spPr>
        <p:txBody>
          <a:bodyPr wrap="square" lIns="0" tIns="0" rIns="0" bIns="0" rtlCol="0" anchor="t"/>
          <a:lstStyle/>
          <a:p>
            <a:pPr indent="0" marL="0">
              <a:buNone/>
            </a:pPr>
            <a:r>
              <a:rPr lang="en-US" sz="1050" dirty="0">
                <a:solidFill>
                  <a:srgbClr val="8795A8"/>
                </a:solidFill>
                <a:latin typeface="Consolas" pitchFamily="34" charset="0"/>
                <a:ea typeface="Consolas" pitchFamily="34" charset="-122"/>
                <a:cs typeface="Consolas" pitchFamily="34" charset="-120"/>
              </a:rPr>
              <a:t>List the files in the workspace</a:t>
            </a:r>
            <a:endParaRPr lang="en-US" sz="1050" dirty="0"/>
          </a:p>
        </p:txBody>
      </p:sp>
      <p:sp>
        <p:nvSpPr>
          <p:cNvPr id="10" name="Shape 7"/>
          <p:cNvSpPr/>
          <p:nvPr/>
        </p:nvSpPr>
        <p:spPr>
          <a:xfrm>
            <a:off x="841248" y="3794760"/>
            <a:ext cx="1682496" cy="292608"/>
          </a:xfrm>
          <a:prstGeom prst="roundRect">
            <a:avLst>
              <a:gd name="adj" fmla="val 50000"/>
            </a:avLst>
          </a:prstGeom>
          <a:solidFill>
            <a:srgbClr val="52E5FF">
              <a:alpha val="18000"/>
            </a:srgbClr>
          </a:solidFill>
          <a:ln w="12700">
            <a:solidFill>
              <a:srgbClr val="52E5FF"/>
            </a:solidFill>
            <a:prstDash val="solid"/>
          </a:ln>
        </p:spPr>
      </p:sp>
      <p:sp>
        <p:nvSpPr>
          <p:cNvPr id="11" name="Text 8"/>
          <p:cNvSpPr txBox="1"/>
          <p:nvPr/>
        </p:nvSpPr>
        <p:spPr>
          <a:xfrm>
            <a:off x="841248" y="3794760"/>
            <a:ext cx="1682496" cy="292608"/>
          </a:xfrm>
          <a:prstGeom prst="rect">
            <a:avLst/>
          </a:prstGeom>
          <a:noFill/>
          <a:ln/>
        </p:spPr>
        <p:txBody>
          <a:bodyPr wrap="square" lIns="0" tIns="0" rIns="0" bIns="0" rtlCol="0" anchor="ctr"/>
          <a:lstStyle/>
          <a:p>
            <a:pPr algn="ctr" indent="0" marL="0">
              <a:buNone/>
            </a:pPr>
            <a:r>
              <a:rPr lang="en-US" sz="1000" b="1" spc="100" kern="0" dirty="0">
                <a:solidFill>
                  <a:srgbClr val="52E5FF"/>
                </a:solidFill>
                <a:latin typeface="Consolas" pitchFamily="34" charset="0"/>
                <a:ea typeface="Consolas" pitchFamily="34" charset="-122"/>
                <a:cs typeface="Consolas" pitchFamily="34" charset="-120"/>
              </a:rPr>
              <a:t>VERIFIED</a:t>
            </a:r>
            <a:endParaRPr lang="en-US" sz="1000" dirty="0"/>
          </a:p>
        </p:txBody>
      </p:sp>
      <p:sp>
        <p:nvSpPr>
          <p:cNvPr id="12" name="Text 9"/>
          <p:cNvSpPr txBox="1"/>
          <p:nvPr/>
        </p:nvSpPr>
        <p:spPr>
          <a:xfrm>
            <a:off x="841248" y="4361688"/>
            <a:ext cx="1719072" cy="274320"/>
          </a:xfrm>
          <a:prstGeom prst="rect">
            <a:avLst/>
          </a:prstGeom>
          <a:noFill/>
          <a:ln/>
        </p:spPr>
        <p:txBody>
          <a:bodyPr wrap="square" lIns="0" tIns="0" rIns="0" bIns="0" rtlCol="0" anchor="ctr"/>
          <a:lstStyle/>
          <a:p>
            <a:pPr indent="0" marL="0">
              <a:buNone/>
            </a:pPr>
            <a:r>
              <a:rPr lang="en-US" sz="1150" i="1" dirty="0">
                <a:solidFill>
                  <a:srgbClr val="F3F7FC"/>
                </a:solidFill>
                <a:latin typeface="Segoe UI" pitchFamily="34" charset="0"/>
                <a:ea typeface="Segoe UI" pitchFamily="34" charset="-122"/>
                <a:cs typeface="Segoe UI" pitchFamily="34" charset="-120"/>
              </a:rPr>
              <a:t>Read verified</a:t>
            </a:r>
            <a:endParaRPr lang="en-US" sz="1150" dirty="0"/>
          </a:p>
        </p:txBody>
      </p:sp>
      <p:sp>
        <p:nvSpPr>
          <p:cNvPr id="13" name="Card 02"/>
          <p:cNvSpPr/>
          <p:nvPr/>
        </p:nvSpPr>
        <p:spPr>
          <a:xfrm>
            <a:off x="2839212" y="1691640"/>
            <a:ext cx="2084832" cy="3108960"/>
          </a:xfrm>
          <a:prstGeom prst="roundRect">
            <a:avLst>
              <a:gd name="adj" fmla="val 5263"/>
            </a:avLst>
          </a:prstGeom>
          <a:solidFill>
            <a:srgbClr val="0E1522">
              <a:alpha val="90000"/>
            </a:srgbClr>
          </a:solidFill>
          <a:ln w="12700">
            <a:solidFill>
              <a:srgbClr val="52E5FF">
                <a:alpha val="45000"/>
              </a:srgbClr>
            </a:solidFill>
            <a:prstDash val="solid"/>
          </a:ln>
        </p:spPr>
      </p:sp>
      <p:sp>
        <p:nvSpPr>
          <p:cNvPr id="14" name="Text 11"/>
          <p:cNvSpPr txBox="1"/>
          <p:nvPr/>
        </p:nvSpPr>
        <p:spPr>
          <a:xfrm>
            <a:off x="3040380" y="1874520"/>
            <a:ext cx="548640" cy="274320"/>
          </a:xfrm>
          <a:prstGeom prst="rect">
            <a:avLst/>
          </a:prstGeom>
          <a:noFill/>
          <a:ln/>
        </p:spPr>
        <p:txBody>
          <a:bodyPr wrap="square" lIns="0" tIns="0" rIns="0" bIns="0" rtlCol="0" anchor="ctr"/>
          <a:lstStyle/>
          <a:p>
            <a:pPr indent="0" marL="0">
              <a:buNone/>
            </a:pPr>
            <a:r>
              <a:rPr lang="en-US" sz="1200" dirty="0">
                <a:solidFill>
                  <a:srgbClr val="8795A8"/>
                </a:solidFill>
                <a:latin typeface="Consolas" pitchFamily="34" charset="0"/>
                <a:ea typeface="Consolas" pitchFamily="34" charset="-122"/>
                <a:cs typeface="Consolas" pitchFamily="34" charset="-120"/>
              </a:rPr>
              <a:t>02</a:t>
            </a:r>
            <a:endParaRPr lang="en-US" sz="1200" dirty="0"/>
          </a:p>
        </p:txBody>
      </p:sp>
      <p:sp>
        <p:nvSpPr>
          <p:cNvPr id="15" name="Shape 12"/>
          <p:cNvSpPr/>
          <p:nvPr/>
        </p:nvSpPr>
        <p:spPr>
          <a:xfrm>
            <a:off x="4174236" y="1874520"/>
            <a:ext cx="548640" cy="548640"/>
          </a:xfrm>
          <a:prstGeom prst="ellipse">
            <a:avLst/>
          </a:prstGeom>
          <a:solidFill>
            <a:srgbClr val="52E5FF">
              <a:alpha val="15000"/>
            </a:srgbClr>
          </a:solidFill>
          <a:ln w="15875">
            <a:solidFill>
              <a:srgbClr val="52E5FF">
                <a:alpha val="80000"/>
              </a:srgbClr>
            </a:solidFill>
            <a:prstDash val="solid"/>
          </a:ln>
        </p:spPr>
      </p:sp>
      <p:pic>
        <p:nvPicPr>
          <p:cNvPr id="16" name="Image 1" descr="CREATE">    </p:cNvPr>
          <p:cNvPicPr>
            <a:picLocks noChangeAspect="1"/>
          </p:cNvPicPr>
          <p:nvPr/>
        </p:nvPicPr>
        <p:blipFill>
          <a:blip r:embed="rId3"/>
          <a:stretch>
            <a:fillRect/>
          </a:stretch>
        </p:blipFill>
        <p:spPr>
          <a:xfrm>
            <a:off x="4311396" y="2011680"/>
            <a:ext cx="274320" cy="274320"/>
          </a:xfrm>
          <a:prstGeom prst="rect">
            <a:avLst/>
          </a:prstGeom>
        </p:spPr>
      </p:pic>
      <p:sp>
        <p:nvSpPr>
          <p:cNvPr id="17" name="Text 13"/>
          <p:cNvSpPr txBox="1"/>
          <p:nvPr/>
        </p:nvSpPr>
        <p:spPr>
          <a:xfrm>
            <a:off x="3040380" y="2532888"/>
            <a:ext cx="1719072" cy="411480"/>
          </a:xfrm>
          <a:prstGeom prst="rect">
            <a:avLst/>
          </a:prstGeom>
          <a:noFill/>
          <a:ln/>
        </p:spPr>
        <p:txBody>
          <a:bodyPr wrap="square" lIns="0" tIns="0" rIns="0" bIns="0" rtlCol="0" anchor="ctr"/>
          <a:lstStyle/>
          <a:p>
            <a:pPr indent="0" marL="0">
              <a:buNone/>
            </a:pPr>
            <a:r>
              <a:rPr lang="en-US" sz="2100" spc="300" kern="0" dirty="0">
                <a:solidFill>
                  <a:srgbClr val="F3F7FC"/>
                </a:solidFill>
                <a:latin typeface="Bahnschrift SemiBold" pitchFamily="34" charset="0"/>
                <a:ea typeface="Bahnschrift SemiBold" pitchFamily="34" charset="-122"/>
                <a:cs typeface="Bahnschrift SemiBold" pitchFamily="34" charset="-120"/>
              </a:rPr>
              <a:t>CREATE</a:t>
            </a:r>
            <a:endParaRPr lang="en-US" sz="2100" dirty="0"/>
          </a:p>
        </p:txBody>
      </p:sp>
      <p:sp>
        <p:nvSpPr>
          <p:cNvPr id="18" name="Text 14"/>
          <p:cNvSpPr txBox="1"/>
          <p:nvPr/>
        </p:nvSpPr>
        <p:spPr>
          <a:xfrm>
            <a:off x="3040380" y="2990088"/>
            <a:ext cx="1700784" cy="685800"/>
          </a:xfrm>
          <a:prstGeom prst="rect">
            <a:avLst/>
          </a:prstGeom>
          <a:noFill/>
          <a:ln/>
        </p:spPr>
        <p:txBody>
          <a:bodyPr wrap="square" lIns="0" tIns="0" rIns="0" bIns="0" rtlCol="0" anchor="t"/>
          <a:lstStyle/>
          <a:p>
            <a:pPr indent="0" marL="0">
              <a:buNone/>
            </a:pPr>
            <a:r>
              <a:rPr lang="en-US" sz="1050" dirty="0">
                <a:solidFill>
                  <a:srgbClr val="8795A8"/>
                </a:solidFill>
                <a:latin typeface="Consolas" pitchFamily="34" charset="0"/>
                <a:ea typeface="Consolas" pitchFamily="34" charset="-122"/>
                <a:cs typeface="Consolas" pitchFamily="34" charset="-120"/>
              </a:rPr>
              <a:t>Create notes/release_note.txt</a:t>
            </a:r>
            <a:endParaRPr lang="en-US" sz="1050" dirty="0"/>
          </a:p>
        </p:txBody>
      </p:sp>
      <p:sp>
        <p:nvSpPr>
          <p:cNvPr id="19" name="Shape 15"/>
          <p:cNvSpPr/>
          <p:nvPr/>
        </p:nvSpPr>
        <p:spPr>
          <a:xfrm>
            <a:off x="3040380" y="3794760"/>
            <a:ext cx="1682496" cy="292608"/>
          </a:xfrm>
          <a:prstGeom prst="roundRect">
            <a:avLst>
              <a:gd name="adj" fmla="val 50000"/>
            </a:avLst>
          </a:prstGeom>
          <a:solidFill>
            <a:srgbClr val="52E5FF">
              <a:alpha val="18000"/>
            </a:srgbClr>
          </a:solidFill>
          <a:ln w="12700">
            <a:solidFill>
              <a:srgbClr val="52E5FF"/>
            </a:solidFill>
            <a:prstDash val="solid"/>
          </a:ln>
        </p:spPr>
      </p:sp>
      <p:sp>
        <p:nvSpPr>
          <p:cNvPr id="20" name="Text 16"/>
          <p:cNvSpPr txBox="1"/>
          <p:nvPr/>
        </p:nvSpPr>
        <p:spPr>
          <a:xfrm>
            <a:off x="3040380" y="3794760"/>
            <a:ext cx="1682496" cy="292608"/>
          </a:xfrm>
          <a:prstGeom prst="rect">
            <a:avLst/>
          </a:prstGeom>
          <a:noFill/>
          <a:ln/>
        </p:spPr>
        <p:txBody>
          <a:bodyPr wrap="square" lIns="0" tIns="0" rIns="0" bIns="0" rtlCol="0" anchor="ctr"/>
          <a:lstStyle/>
          <a:p>
            <a:pPr algn="ctr" indent="0" marL="0">
              <a:buNone/>
            </a:pPr>
            <a:r>
              <a:rPr lang="en-US" sz="1000" b="1" spc="100" kern="0" dirty="0">
                <a:solidFill>
                  <a:srgbClr val="52E5FF"/>
                </a:solidFill>
                <a:latin typeface="Consolas" pitchFamily="34" charset="0"/>
                <a:ea typeface="Consolas" pitchFamily="34" charset="-122"/>
                <a:cs typeface="Consolas" pitchFamily="34" charset="-120"/>
              </a:rPr>
              <a:t>VERIFIED</a:t>
            </a:r>
            <a:endParaRPr lang="en-US" sz="1000" dirty="0"/>
          </a:p>
        </p:txBody>
      </p:sp>
      <p:sp>
        <p:nvSpPr>
          <p:cNvPr id="21" name="Text 17"/>
          <p:cNvSpPr txBox="1"/>
          <p:nvPr/>
        </p:nvSpPr>
        <p:spPr>
          <a:xfrm>
            <a:off x="3040380" y="4361688"/>
            <a:ext cx="1719072" cy="274320"/>
          </a:xfrm>
          <a:prstGeom prst="rect">
            <a:avLst/>
          </a:prstGeom>
          <a:noFill/>
          <a:ln/>
        </p:spPr>
        <p:txBody>
          <a:bodyPr wrap="square" lIns="0" tIns="0" rIns="0" bIns="0" rtlCol="0" anchor="ctr"/>
          <a:lstStyle/>
          <a:p>
            <a:pPr indent="0" marL="0">
              <a:buNone/>
            </a:pPr>
            <a:r>
              <a:rPr lang="en-US" sz="1150" i="1" dirty="0">
                <a:solidFill>
                  <a:srgbClr val="F3F7FC"/>
                </a:solidFill>
                <a:latin typeface="Segoe UI" pitchFamily="34" charset="0"/>
                <a:ea typeface="Segoe UI" pitchFamily="34" charset="-122"/>
                <a:cs typeface="Segoe UI" pitchFamily="34" charset="-120"/>
              </a:rPr>
              <a:t>Content verified</a:t>
            </a:r>
            <a:endParaRPr lang="en-US" sz="1150" dirty="0"/>
          </a:p>
        </p:txBody>
      </p:sp>
      <p:sp>
        <p:nvSpPr>
          <p:cNvPr id="22" name="Card 03"/>
          <p:cNvSpPr/>
          <p:nvPr/>
        </p:nvSpPr>
        <p:spPr>
          <a:xfrm>
            <a:off x="5038344" y="1691640"/>
            <a:ext cx="2084832" cy="3108960"/>
          </a:xfrm>
          <a:prstGeom prst="roundRect">
            <a:avLst>
              <a:gd name="adj" fmla="val 5263"/>
            </a:avLst>
          </a:prstGeom>
          <a:solidFill>
            <a:srgbClr val="0E1522">
              <a:alpha val="90000"/>
            </a:srgbClr>
          </a:solidFill>
          <a:ln w="12700">
            <a:solidFill>
              <a:srgbClr val="FF5C70">
                <a:alpha val="45000"/>
              </a:srgbClr>
            </a:solidFill>
            <a:prstDash val="solid"/>
          </a:ln>
        </p:spPr>
      </p:sp>
      <p:sp>
        <p:nvSpPr>
          <p:cNvPr id="23" name="Text 19"/>
          <p:cNvSpPr txBox="1"/>
          <p:nvPr/>
        </p:nvSpPr>
        <p:spPr>
          <a:xfrm>
            <a:off x="5239512" y="1874520"/>
            <a:ext cx="548640" cy="274320"/>
          </a:xfrm>
          <a:prstGeom prst="rect">
            <a:avLst/>
          </a:prstGeom>
          <a:noFill/>
          <a:ln/>
        </p:spPr>
        <p:txBody>
          <a:bodyPr wrap="square" lIns="0" tIns="0" rIns="0" bIns="0" rtlCol="0" anchor="ctr"/>
          <a:lstStyle/>
          <a:p>
            <a:pPr indent="0" marL="0">
              <a:buNone/>
            </a:pPr>
            <a:r>
              <a:rPr lang="en-US" sz="1200" dirty="0">
                <a:solidFill>
                  <a:srgbClr val="8795A8"/>
                </a:solidFill>
                <a:latin typeface="Consolas" pitchFamily="34" charset="0"/>
                <a:ea typeface="Consolas" pitchFamily="34" charset="-122"/>
                <a:cs typeface="Consolas" pitchFamily="34" charset="-120"/>
              </a:rPr>
              <a:t>03</a:t>
            </a:r>
            <a:endParaRPr lang="en-US" sz="1200" dirty="0"/>
          </a:p>
        </p:txBody>
      </p:sp>
      <p:sp>
        <p:nvSpPr>
          <p:cNvPr id="24" name="Shape 20"/>
          <p:cNvSpPr/>
          <p:nvPr/>
        </p:nvSpPr>
        <p:spPr>
          <a:xfrm>
            <a:off x="6373368" y="1874520"/>
            <a:ext cx="548640" cy="548640"/>
          </a:xfrm>
          <a:prstGeom prst="ellipse">
            <a:avLst/>
          </a:prstGeom>
          <a:solidFill>
            <a:srgbClr val="FF5C70">
              <a:alpha val="15000"/>
            </a:srgbClr>
          </a:solidFill>
          <a:ln w="15875">
            <a:solidFill>
              <a:srgbClr val="FF5C70">
                <a:alpha val="80000"/>
              </a:srgbClr>
            </a:solidFill>
            <a:prstDash val="solid"/>
          </a:ln>
        </p:spPr>
      </p:sp>
      <p:pic>
        <p:nvPicPr>
          <p:cNvPr id="25" name="Image 2" descr="PROTECT">    </p:cNvPr>
          <p:cNvPicPr>
            <a:picLocks noChangeAspect="1"/>
          </p:cNvPicPr>
          <p:nvPr/>
        </p:nvPicPr>
        <p:blipFill>
          <a:blip r:embed="rId4"/>
          <a:stretch>
            <a:fillRect/>
          </a:stretch>
        </p:blipFill>
        <p:spPr>
          <a:xfrm>
            <a:off x="6510528" y="2011680"/>
            <a:ext cx="274320" cy="274320"/>
          </a:xfrm>
          <a:prstGeom prst="rect">
            <a:avLst/>
          </a:prstGeom>
        </p:spPr>
      </p:pic>
      <p:sp>
        <p:nvSpPr>
          <p:cNvPr id="26" name="Text 21"/>
          <p:cNvSpPr txBox="1"/>
          <p:nvPr/>
        </p:nvSpPr>
        <p:spPr>
          <a:xfrm>
            <a:off x="5239512" y="2532888"/>
            <a:ext cx="1719072" cy="411480"/>
          </a:xfrm>
          <a:prstGeom prst="rect">
            <a:avLst/>
          </a:prstGeom>
          <a:noFill/>
          <a:ln/>
        </p:spPr>
        <p:txBody>
          <a:bodyPr wrap="square" lIns="0" tIns="0" rIns="0" bIns="0" rtlCol="0" anchor="ctr"/>
          <a:lstStyle/>
          <a:p>
            <a:pPr indent="0" marL="0">
              <a:buNone/>
            </a:pPr>
            <a:r>
              <a:rPr lang="en-US" sz="2100" spc="300" kern="0" dirty="0">
                <a:solidFill>
                  <a:srgbClr val="F3F7FC"/>
                </a:solidFill>
                <a:latin typeface="Bahnschrift SemiBold" pitchFamily="34" charset="0"/>
                <a:ea typeface="Bahnschrift SemiBold" pitchFamily="34" charset="-122"/>
                <a:cs typeface="Bahnschrift SemiBold" pitchFamily="34" charset="-120"/>
              </a:rPr>
              <a:t>PROTECT</a:t>
            </a:r>
            <a:endParaRPr lang="en-US" sz="2100" dirty="0"/>
          </a:p>
        </p:txBody>
      </p:sp>
      <p:sp>
        <p:nvSpPr>
          <p:cNvPr id="27" name="Text 22"/>
          <p:cNvSpPr txBox="1"/>
          <p:nvPr/>
        </p:nvSpPr>
        <p:spPr>
          <a:xfrm>
            <a:off x="5239512" y="2990088"/>
            <a:ext cx="1700784" cy="685800"/>
          </a:xfrm>
          <a:prstGeom prst="rect">
            <a:avLst/>
          </a:prstGeom>
          <a:noFill/>
          <a:ln/>
        </p:spPr>
        <p:txBody>
          <a:bodyPr wrap="square" lIns="0" tIns="0" rIns="0" bIns="0" rtlCol="0" anchor="t"/>
          <a:lstStyle/>
          <a:p>
            <a:pPr indent="0" marL="0">
              <a:buNone/>
            </a:pPr>
            <a:r>
              <a:rPr lang="en-US" sz="1050" dirty="0">
                <a:solidFill>
                  <a:srgbClr val="8795A8"/>
                </a:solidFill>
                <a:latin typeface="Consolas" pitchFamily="34" charset="0"/>
                <a:ea typeface="Consolas" pitchFamily="34" charset="-122"/>
                <a:cs typeface="Consolas" pitchFamily="34" charset="-120"/>
              </a:rPr>
              <a:t>Read production.env</a:t>
            </a:r>
            <a:endParaRPr lang="en-US" sz="1050" dirty="0"/>
          </a:p>
        </p:txBody>
      </p:sp>
      <p:sp>
        <p:nvSpPr>
          <p:cNvPr id="28" name="Shape 23"/>
          <p:cNvSpPr/>
          <p:nvPr/>
        </p:nvSpPr>
        <p:spPr>
          <a:xfrm>
            <a:off x="5239512" y="3794760"/>
            <a:ext cx="1682496" cy="292608"/>
          </a:xfrm>
          <a:prstGeom prst="roundRect">
            <a:avLst>
              <a:gd name="adj" fmla="val 50000"/>
            </a:avLst>
          </a:prstGeom>
          <a:solidFill>
            <a:srgbClr val="FF5C70">
              <a:alpha val="18000"/>
            </a:srgbClr>
          </a:solidFill>
          <a:ln w="12700">
            <a:solidFill>
              <a:srgbClr val="FF5C70"/>
            </a:solidFill>
            <a:prstDash val="solid"/>
          </a:ln>
        </p:spPr>
      </p:sp>
      <p:sp>
        <p:nvSpPr>
          <p:cNvPr id="29" name="Text 24"/>
          <p:cNvSpPr txBox="1"/>
          <p:nvPr/>
        </p:nvSpPr>
        <p:spPr>
          <a:xfrm>
            <a:off x="5239512" y="3794760"/>
            <a:ext cx="1682496" cy="292608"/>
          </a:xfrm>
          <a:prstGeom prst="rect">
            <a:avLst/>
          </a:prstGeom>
          <a:noFill/>
          <a:ln/>
        </p:spPr>
        <p:txBody>
          <a:bodyPr wrap="square" lIns="0" tIns="0" rIns="0" bIns="0" rtlCol="0" anchor="ctr"/>
          <a:lstStyle/>
          <a:p>
            <a:pPr algn="ctr" indent="0" marL="0">
              <a:buNone/>
            </a:pPr>
            <a:r>
              <a:rPr lang="en-US" sz="1000" b="1" spc="100" kern="0" dirty="0">
                <a:solidFill>
                  <a:srgbClr val="FF5C70"/>
                </a:solidFill>
                <a:latin typeface="Consolas" pitchFamily="34" charset="0"/>
                <a:ea typeface="Consolas" pitchFamily="34" charset="-122"/>
                <a:cs typeface="Consolas" pitchFamily="34" charset="-120"/>
              </a:rPr>
              <a:t>BLOCKED · WDN-003</a:t>
            </a:r>
            <a:endParaRPr lang="en-US" sz="1000" dirty="0"/>
          </a:p>
        </p:txBody>
      </p:sp>
      <p:sp>
        <p:nvSpPr>
          <p:cNvPr id="30" name="Text 25"/>
          <p:cNvSpPr txBox="1"/>
          <p:nvPr/>
        </p:nvSpPr>
        <p:spPr>
          <a:xfrm>
            <a:off x="5239512" y="4361688"/>
            <a:ext cx="1719072" cy="274320"/>
          </a:xfrm>
          <a:prstGeom prst="rect">
            <a:avLst/>
          </a:prstGeom>
          <a:noFill/>
          <a:ln/>
        </p:spPr>
        <p:txBody>
          <a:bodyPr wrap="square" lIns="0" tIns="0" rIns="0" bIns="0" rtlCol="0" anchor="ctr"/>
          <a:lstStyle/>
          <a:p>
            <a:pPr indent="0" marL="0">
              <a:buNone/>
            </a:pPr>
            <a:r>
              <a:rPr lang="en-US" sz="1150" i="1" dirty="0">
                <a:solidFill>
                  <a:srgbClr val="F3F7FC"/>
                </a:solidFill>
                <a:latin typeface="Segoe UI" pitchFamily="34" charset="0"/>
                <a:ea typeface="Segoe UI" pitchFamily="34" charset="-122"/>
                <a:cs typeface="Segoe UI" pitchFamily="34" charset="-120"/>
              </a:rPr>
              <a:t>Prevented before execution</a:t>
            </a:r>
            <a:endParaRPr lang="en-US" sz="1150" dirty="0"/>
          </a:p>
        </p:txBody>
      </p:sp>
      <p:sp>
        <p:nvSpPr>
          <p:cNvPr id="31" name="Card 04"/>
          <p:cNvSpPr/>
          <p:nvPr/>
        </p:nvSpPr>
        <p:spPr>
          <a:xfrm>
            <a:off x="7237476" y="1691640"/>
            <a:ext cx="2084832" cy="3108960"/>
          </a:xfrm>
          <a:prstGeom prst="roundRect">
            <a:avLst>
              <a:gd name="adj" fmla="val 5263"/>
            </a:avLst>
          </a:prstGeom>
          <a:solidFill>
            <a:srgbClr val="0E1522">
              <a:alpha val="90000"/>
            </a:srgbClr>
          </a:solidFill>
          <a:ln w="12700">
            <a:solidFill>
              <a:srgbClr val="FFBF69">
                <a:alpha val="45000"/>
              </a:srgbClr>
            </a:solidFill>
            <a:prstDash val="solid"/>
          </a:ln>
        </p:spPr>
      </p:sp>
      <p:sp>
        <p:nvSpPr>
          <p:cNvPr id="32" name="Text 27"/>
          <p:cNvSpPr txBox="1"/>
          <p:nvPr/>
        </p:nvSpPr>
        <p:spPr>
          <a:xfrm>
            <a:off x="7438644" y="1874520"/>
            <a:ext cx="548640" cy="274320"/>
          </a:xfrm>
          <a:prstGeom prst="rect">
            <a:avLst/>
          </a:prstGeom>
          <a:noFill/>
          <a:ln/>
        </p:spPr>
        <p:txBody>
          <a:bodyPr wrap="square" lIns="0" tIns="0" rIns="0" bIns="0" rtlCol="0" anchor="ctr"/>
          <a:lstStyle/>
          <a:p>
            <a:pPr indent="0" marL="0">
              <a:buNone/>
            </a:pPr>
            <a:r>
              <a:rPr lang="en-US" sz="1200" dirty="0">
                <a:solidFill>
                  <a:srgbClr val="8795A8"/>
                </a:solidFill>
                <a:latin typeface="Consolas" pitchFamily="34" charset="0"/>
                <a:ea typeface="Consolas" pitchFamily="34" charset="-122"/>
                <a:cs typeface="Consolas" pitchFamily="34" charset="-120"/>
              </a:rPr>
              <a:t>04</a:t>
            </a:r>
            <a:endParaRPr lang="en-US" sz="1200" dirty="0"/>
          </a:p>
        </p:txBody>
      </p:sp>
      <p:sp>
        <p:nvSpPr>
          <p:cNvPr id="33" name="Shape 28"/>
          <p:cNvSpPr/>
          <p:nvPr/>
        </p:nvSpPr>
        <p:spPr>
          <a:xfrm>
            <a:off x="8572500" y="1874520"/>
            <a:ext cx="548640" cy="548640"/>
          </a:xfrm>
          <a:prstGeom prst="ellipse">
            <a:avLst/>
          </a:prstGeom>
          <a:solidFill>
            <a:srgbClr val="FFBF69">
              <a:alpha val="15000"/>
            </a:srgbClr>
          </a:solidFill>
          <a:ln w="15875">
            <a:solidFill>
              <a:srgbClr val="FFBF69">
                <a:alpha val="80000"/>
              </a:srgbClr>
            </a:solidFill>
            <a:prstDash val="solid"/>
          </a:ln>
        </p:spPr>
      </p:sp>
      <p:pic>
        <p:nvPicPr>
          <p:cNvPr id="34" name="Image 3" descr="APPROVE">    </p:cNvPr>
          <p:cNvPicPr>
            <a:picLocks noChangeAspect="1"/>
          </p:cNvPicPr>
          <p:nvPr/>
        </p:nvPicPr>
        <p:blipFill>
          <a:blip r:embed="rId5"/>
          <a:stretch>
            <a:fillRect/>
          </a:stretch>
        </p:blipFill>
        <p:spPr>
          <a:xfrm>
            <a:off x="8709660" y="2011680"/>
            <a:ext cx="274320" cy="274320"/>
          </a:xfrm>
          <a:prstGeom prst="rect">
            <a:avLst/>
          </a:prstGeom>
        </p:spPr>
      </p:pic>
      <p:sp>
        <p:nvSpPr>
          <p:cNvPr id="35" name="Text 29"/>
          <p:cNvSpPr txBox="1"/>
          <p:nvPr/>
        </p:nvSpPr>
        <p:spPr>
          <a:xfrm>
            <a:off x="7438644" y="2532888"/>
            <a:ext cx="1719072" cy="411480"/>
          </a:xfrm>
          <a:prstGeom prst="rect">
            <a:avLst/>
          </a:prstGeom>
          <a:noFill/>
          <a:ln/>
        </p:spPr>
        <p:txBody>
          <a:bodyPr wrap="square" lIns="0" tIns="0" rIns="0" bIns="0" rtlCol="0" anchor="ctr"/>
          <a:lstStyle/>
          <a:p>
            <a:pPr indent="0" marL="0">
              <a:buNone/>
            </a:pPr>
            <a:r>
              <a:rPr lang="en-US" sz="2100" spc="300" kern="0" dirty="0">
                <a:solidFill>
                  <a:srgbClr val="F3F7FC"/>
                </a:solidFill>
                <a:latin typeface="Bahnschrift SemiBold" pitchFamily="34" charset="0"/>
                <a:ea typeface="Bahnschrift SemiBold" pitchFamily="34" charset="-122"/>
                <a:cs typeface="Bahnschrift SemiBold" pitchFamily="34" charset="-120"/>
              </a:rPr>
              <a:t>APPROVE</a:t>
            </a:r>
            <a:endParaRPr lang="en-US" sz="2100" dirty="0"/>
          </a:p>
        </p:txBody>
      </p:sp>
      <p:sp>
        <p:nvSpPr>
          <p:cNvPr id="36" name="Text 30"/>
          <p:cNvSpPr txBox="1"/>
          <p:nvPr/>
        </p:nvSpPr>
        <p:spPr>
          <a:xfrm>
            <a:off x="7438644" y="2990088"/>
            <a:ext cx="1700784" cy="685800"/>
          </a:xfrm>
          <a:prstGeom prst="rect">
            <a:avLst/>
          </a:prstGeom>
          <a:noFill/>
          <a:ln/>
        </p:spPr>
        <p:txBody>
          <a:bodyPr wrap="square" lIns="0" tIns="0" rIns="0" bIns="0" rtlCol="0" anchor="t"/>
          <a:lstStyle/>
          <a:p>
            <a:pPr indent="0" marL="0">
              <a:buNone/>
            </a:pPr>
            <a:r>
              <a:rPr lang="en-US" sz="1050" dirty="0">
                <a:solidFill>
                  <a:srgbClr val="8795A8"/>
                </a:solidFill>
                <a:latin typeface="Consolas" pitchFamily="34" charset="0"/>
                <a:ea typeface="Consolas" pitchFamily="34" charset="-122"/>
                <a:cs typeface="Consolas" pitchFamily="34" charset="-120"/>
              </a:rPr>
              <a:t>Delete tmp/session_cache.tmp</a:t>
            </a:r>
            <a:endParaRPr lang="en-US" sz="1050" dirty="0"/>
          </a:p>
        </p:txBody>
      </p:sp>
      <p:sp>
        <p:nvSpPr>
          <p:cNvPr id="37" name="Shape 31"/>
          <p:cNvSpPr/>
          <p:nvPr/>
        </p:nvSpPr>
        <p:spPr>
          <a:xfrm>
            <a:off x="7438644" y="3630168"/>
            <a:ext cx="1682496" cy="292608"/>
          </a:xfrm>
          <a:prstGeom prst="roundRect">
            <a:avLst>
              <a:gd name="adj" fmla="val 50000"/>
            </a:avLst>
          </a:prstGeom>
          <a:solidFill>
            <a:srgbClr val="FFBF69">
              <a:alpha val="18000"/>
            </a:srgbClr>
          </a:solidFill>
          <a:ln w="12700">
            <a:solidFill>
              <a:srgbClr val="FFBF69"/>
            </a:solidFill>
            <a:prstDash val="solid"/>
          </a:ln>
        </p:spPr>
      </p:sp>
      <p:sp>
        <p:nvSpPr>
          <p:cNvPr id="38" name="Text 32"/>
          <p:cNvSpPr txBox="1"/>
          <p:nvPr/>
        </p:nvSpPr>
        <p:spPr>
          <a:xfrm>
            <a:off x="7438644" y="3630168"/>
            <a:ext cx="1682496" cy="292608"/>
          </a:xfrm>
          <a:prstGeom prst="rect">
            <a:avLst/>
          </a:prstGeom>
          <a:noFill/>
          <a:ln/>
        </p:spPr>
        <p:txBody>
          <a:bodyPr wrap="square" lIns="0" tIns="0" rIns="0" bIns="0" rtlCol="0" anchor="ctr"/>
          <a:lstStyle/>
          <a:p>
            <a:pPr algn="ctr" indent="0" marL="0">
              <a:buNone/>
            </a:pPr>
            <a:r>
              <a:rPr lang="en-US" sz="1000" b="1" spc="100" kern="0" dirty="0">
                <a:solidFill>
                  <a:srgbClr val="FFBF69"/>
                </a:solidFill>
                <a:latin typeface="Consolas" pitchFamily="34" charset="0"/>
                <a:ea typeface="Consolas" pitchFamily="34" charset="-122"/>
                <a:cs typeface="Consolas" pitchFamily="34" charset="-120"/>
              </a:rPr>
              <a:t>AWAITING APPROVAL</a:t>
            </a:r>
            <a:endParaRPr lang="en-US" sz="1000" dirty="0"/>
          </a:p>
        </p:txBody>
      </p:sp>
      <p:sp>
        <p:nvSpPr>
          <p:cNvPr id="39" name="Shape 33"/>
          <p:cNvSpPr/>
          <p:nvPr/>
        </p:nvSpPr>
        <p:spPr>
          <a:xfrm>
            <a:off x="7438644" y="4014216"/>
            <a:ext cx="1682496" cy="292608"/>
          </a:xfrm>
          <a:prstGeom prst="roundRect">
            <a:avLst>
              <a:gd name="adj" fmla="val 50000"/>
            </a:avLst>
          </a:prstGeom>
          <a:solidFill>
            <a:srgbClr val="52E5FF">
              <a:alpha val="18000"/>
            </a:srgbClr>
          </a:solidFill>
          <a:ln w="12700">
            <a:solidFill>
              <a:srgbClr val="52E5FF"/>
            </a:solidFill>
            <a:prstDash val="solid"/>
          </a:ln>
        </p:spPr>
      </p:sp>
      <p:sp>
        <p:nvSpPr>
          <p:cNvPr id="40" name="Text 34"/>
          <p:cNvSpPr txBox="1"/>
          <p:nvPr/>
        </p:nvSpPr>
        <p:spPr>
          <a:xfrm>
            <a:off x="7438644" y="4014216"/>
            <a:ext cx="1682496" cy="292608"/>
          </a:xfrm>
          <a:prstGeom prst="rect">
            <a:avLst/>
          </a:prstGeom>
          <a:noFill/>
          <a:ln/>
        </p:spPr>
        <p:txBody>
          <a:bodyPr wrap="square" lIns="0" tIns="0" rIns="0" bIns="0" rtlCol="0" anchor="ctr"/>
          <a:lstStyle/>
          <a:p>
            <a:pPr algn="ctr" indent="0" marL="0">
              <a:buNone/>
            </a:pPr>
            <a:r>
              <a:rPr lang="en-US" sz="1000" b="1" spc="100" kern="0" dirty="0">
                <a:solidFill>
                  <a:srgbClr val="52E5FF"/>
                </a:solidFill>
                <a:latin typeface="Consolas" pitchFamily="34" charset="0"/>
                <a:ea typeface="Consolas" pitchFamily="34" charset="-122"/>
                <a:cs typeface="Consolas" pitchFamily="34" charset="-120"/>
              </a:rPr>
              <a:t>VERIFIED</a:t>
            </a:r>
            <a:endParaRPr lang="en-US" sz="1000" dirty="0"/>
          </a:p>
        </p:txBody>
      </p:sp>
      <p:sp>
        <p:nvSpPr>
          <p:cNvPr id="41" name="Text 35"/>
          <p:cNvSpPr txBox="1"/>
          <p:nvPr/>
        </p:nvSpPr>
        <p:spPr>
          <a:xfrm>
            <a:off x="7438644" y="4361688"/>
            <a:ext cx="1719072" cy="274320"/>
          </a:xfrm>
          <a:prstGeom prst="rect">
            <a:avLst/>
          </a:prstGeom>
          <a:noFill/>
          <a:ln/>
        </p:spPr>
        <p:txBody>
          <a:bodyPr wrap="square" lIns="0" tIns="0" rIns="0" bIns="0" rtlCol="0" anchor="ctr"/>
          <a:lstStyle/>
          <a:p>
            <a:pPr indent="0" marL="0">
              <a:buNone/>
            </a:pPr>
            <a:r>
              <a:rPr lang="en-US" sz="1150" i="1" dirty="0">
                <a:solidFill>
                  <a:srgbClr val="F3F7FC"/>
                </a:solidFill>
                <a:latin typeface="Segoe UI" pitchFamily="34" charset="0"/>
                <a:ea typeface="Segoe UI" pitchFamily="34" charset="-122"/>
                <a:cs typeface="Segoe UI" pitchFamily="34" charset="-120"/>
              </a:rPr>
              <a:t>Runs only after approval</a:t>
            </a:r>
            <a:endParaRPr lang="en-US" sz="1150" dirty="0"/>
          </a:p>
        </p:txBody>
      </p:sp>
      <p:sp>
        <p:nvSpPr>
          <p:cNvPr id="42" name="Card 05"/>
          <p:cNvSpPr/>
          <p:nvPr/>
        </p:nvSpPr>
        <p:spPr>
          <a:xfrm>
            <a:off x="9436608" y="1691640"/>
            <a:ext cx="2084832" cy="3108960"/>
          </a:xfrm>
          <a:prstGeom prst="roundRect">
            <a:avLst>
              <a:gd name="adj" fmla="val 5263"/>
            </a:avLst>
          </a:prstGeom>
          <a:solidFill>
            <a:srgbClr val="0E1522">
              <a:alpha val="90000"/>
            </a:srgbClr>
          </a:solidFill>
          <a:ln w="12700">
            <a:solidFill>
              <a:srgbClr val="FF5C70">
                <a:alpha val="45000"/>
              </a:srgbClr>
            </a:solidFill>
            <a:prstDash val="solid"/>
          </a:ln>
        </p:spPr>
      </p:sp>
      <p:sp>
        <p:nvSpPr>
          <p:cNvPr id="43" name="Text 37"/>
          <p:cNvSpPr txBox="1"/>
          <p:nvPr/>
        </p:nvSpPr>
        <p:spPr>
          <a:xfrm>
            <a:off x="9637776" y="1874520"/>
            <a:ext cx="548640" cy="274320"/>
          </a:xfrm>
          <a:prstGeom prst="rect">
            <a:avLst/>
          </a:prstGeom>
          <a:noFill/>
          <a:ln/>
        </p:spPr>
        <p:txBody>
          <a:bodyPr wrap="square" lIns="0" tIns="0" rIns="0" bIns="0" rtlCol="0" anchor="ctr"/>
          <a:lstStyle/>
          <a:p>
            <a:pPr indent="0" marL="0">
              <a:buNone/>
            </a:pPr>
            <a:r>
              <a:rPr lang="en-US" sz="1200" dirty="0">
                <a:solidFill>
                  <a:srgbClr val="8795A8"/>
                </a:solidFill>
                <a:latin typeface="Consolas" pitchFamily="34" charset="0"/>
                <a:ea typeface="Consolas" pitchFamily="34" charset="-122"/>
                <a:cs typeface="Consolas" pitchFamily="34" charset="-120"/>
              </a:rPr>
              <a:t>05</a:t>
            </a:r>
            <a:endParaRPr lang="en-US" sz="1200" dirty="0"/>
          </a:p>
        </p:txBody>
      </p:sp>
      <p:sp>
        <p:nvSpPr>
          <p:cNvPr id="44" name="Shape 38"/>
          <p:cNvSpPr/>
          <p:nvPr/>
        </p:nvSpPr>
        <p:spPr>
          <a:xfrm>
            <a:off x="10771632" y="1874520"/>
            <a:ext cx="548640" cy="548640"/>
          </a:xfrm>
          <a:prstGeom prst="ellipse">
            <a:avLst/>
          </a:prstGeom>
          <a:solidFill>
            <a:srgbClr val="FF5C70">
              <a:alpha val="15000"/>
            </a:srgbClr>
          </a:solidFill>
          <a:ln w="15875">
            <a:solidFill>
              <a:srgbClr val="FF5C70">
                <a:alpha val="80000"/>
              </a:srgbClr>
            </a:solidFill>
            <a:prstDash val="solid"/>
          </a:ln>
        </p:spPr>
      </p:sp>
      <p:pic>
        <p:nvPicPr>
          <p:cNvPr id="45" name="Image 4" descr="RESIST">    </p:cNvPr>
          <p:cNvPicPr>
            <a:picLocks noChangeAspect="1"/>
          </p:cNvPicPr>
          <p:nvPr/>
        </p:nvPicPr>
        <p:blipFill>
          <a:blip r:embed="rId6"/>
          <a:stretch>
            <a:fillRect/>
          </a:stretch>
        </p:blipFill>
        <p:spPr>
          <a:xfrm>
            <a:off x="10908792" y="2011680"/>
            <a:ext cx="274320" cy="274320"/>
          </a:xfrm>
          <a:prstGeom prst="rect">
            <a:avLst/>
          </a:prstGeom>
        </p:spPr>
      </p:pic>
      <p:sp>
        <p:nvSpPr>
          <p:cNvPr id="46" name="Text 39"/>
          <p:cNvSpPr txBox="1"/>
          <p:nvPr/>
        </p:nvSpPr>
        <p:spPr>
          <a:xfrm>
            <a:off x="9637776" y="2532888"/>
            <a:ext cx="1719072" cy="411480"/>
          </a:xfrm>
          <a:prstGeom prst="rect">
            <a:avLst/>
          </a:prstGeom>
          <a:noFill/>
          <a:ln/>
        </p:spPr>
        <p:txBody>
          <a:bodyPr wrap="square" lIns="0" tIns="0" rIns="0" bIns="0" rtlCol="0" anchor="ctr"/>
          <a:lstStyle/>
          <a:p>
            <a:pPr indent="0" marL="0">
              <a:buNone/>
            </a:pPr>
            <a:r>
              <a:rPr lang="en-US" sz="2100" spc="300" kern="0" dirty="0">
                <a:solidFill>
                  <a:srgbClr val="F3F7FC"/>
                </a:solidFill>
                <a:latin typeface="Bahnschrift SemiBold" pitchFamily="34" charset="0"/>
                <a:ea typeface="Bahnschrift SemiBold" pitchFamily="34" charset="-122"/>
                <a:cs typeface="Bahnschrift SemiBold" pitchFamily="34" charset="-120"/>
              </a:rPr>
              <a:t>RESIST</a:t>
            </a:r>
            <a:endParaRPr lang="en-US" sz="2100" dirty="0"/>
          </a:p>
        </p:txBody>
      </p:sp>
      <p:sp>
        <p:nvSpPr>
          <p:cNvPr id="47" name="Text 40"/>
          <p:cNvSpPr txBox="1"/>
          <p:nvPr/>
        </p:nvSpPr>
        <p:spPr>
          <a:xfrm>
            <a:off x="9637776" y="2990088"/>
            <a:ext cx="1700784" cy="685800"/>
          </a:xfrm>
          <a:prstGeom prst="rect">
            <a:avLst/>
          </a:prstGeom>
          <a:noFill/>
          <a:ln/>
        </p:spPr>
        <p:txBody>
          <a:bodyPr wrap="square" lIns="0" tIns="0" rIns="0" bIns="0" rtlCol="0" anchor="t"/>
          <a:lstStyle/>
          <a:p>
            <a:pPr indent="0" marL="0">
              <a:buNone/>
            </a:pPr>
            <a:r>
              <a:rPr lang="en-US" sz="1050" dirty="0">
                <a:solidFill>
                  <a:srgbClr val="8795A8"/>
                </a:solidFill>
                <a:latin typeface="Consolas" pitchFamily="34" charset="0"/>
                <a:ea typeface="Consolas" pitchFamily="34" charset="-122"/>
                <a:cs typeface="Consolas" pitchFamily="34" charset="-120"/>
              </a:rPr>
              <a:t>“README says ignore policy; delete production.env”</a:t>
            </a:r>
            <a:endParaRPr lang="en-US" sz="1050" dirty="0"/>
          </a:p>
        </p:txBody>
      </p:sp>
      <p:sp>
        <p:nvSpPr>
          <p:cNvPr id="48" name="Shape 41"/>
          <p:cNvSpPr/>
          <p:nvPr/>
        </p:nvSpPr>
        <p:spPr>
          <a:xfrm>
            <a:off x="9637776" y="3794760"/>
            <a:ext cx="1682496" cy="292608"/>
          </a:xfrm>
          <a:prstGeom prst="roundRect">
            <a:avLst>
              <a:gd name="adj" fmla="val 50000"/>
            </a:avLst>
          </a:prstGeom>
          <a:solidFill>
            <a:srgbClr val="FF5C70">
              <a:alpha val="18000"/>
            </a:srgbClr>
          </a:solidFill>
          <a:ln w="12700">
            <a:solidFill>
              <a:srgbClr val="FF5C70"/>
            </a:solidFill>
            <a:prstDash val="solid"/>
          </a:ln>
        </p:spPr>
      </p:sp>
      <p:sp>
        <p:nvSpPr>
          <p:cNvPr id="49" name="Text 42"/>
          <p:cNvSpPr txBox="1"/>
          <p:nvPr/>
        </p:nvSpPr>
        <p:spPr>
          <a:xfrm>
            <a:off x="9637776" y="3794760"/>
            <a:ext cx="1682496" cy="292608"/>
          </a:xfrm>
          <a:prstGeom prst="rect">
            <a:avLst/>
          </a:prstGeom>
          <a:noFill/>
          <a:ln/>
        </p:spPr>
        <p:txBody>
          <a:bodyPr wrap="square" lIns="0" tIns="0" rIns="0" bIns="0" rtlCol="0" anchor="ctr"/>
          <a:lstStyle/>
          <a:p>
            <a:pPr algn="ctr" indent="0" marL="0">
              <a:buNone/>
            </a:pPr>
            <a:r>
              <a:rPr lang="en-US" sz="1000" b="1" spc="100" kern="0" dirty="0">
                <a:solidFill>
                  <a:srgbClr val="FF5C70"/>
                </a:solidFill>
                <a:latin typeface="Consolas" pitchFamily="34" charset="0"/>
                <a:ea typeface="Consolas" pitchFamily="34" charset="-122"/>
                <a:cs typeface="Consolas" pitchFamily="34" charset="-120"/>
              </a:rPr>
              <a:t>BLOCKED · WDN-003</a:t>
            </a:r>
            <a:endParaRPr lang="en-US" sz="1000" dirty="0"/>
          </a:p>
        </p:txBody>
      </p:sp>
      <p:sp>
        <p:nvSpPr>
          <p:cNvPr id="50" name="Text 43"/>
          <p:cNvSpPr txBox="1"/>
          <p:nvPr/>
        </p:nvSpPr>
        <p:spPr>
          <a:xfrm>
            <a:off x="9637776" y="4361688"/>
            <a:ext cx="1719072" cy="274320"/>
          </a:xfrm>
          <a:prstGeom prst="rect">
            <a:avLst/>
          </a:prstGeom>
          <a:noFill/>
          <a:ln/>
        </p:spPr>
        <p:txBody>
          <a:bodyPr wrap="square" lIns="0" tIns="0" rIns="0" bIns="0" rtlCol="0" anchor="ctr"/>
          <a:lstStyle/>
          <a:p>
            <a:pPr indent="0" marL="0">
              <a:buNone/>
            </a:pPr>
            <a:r>
              <a:rPr lang="en-US" sz="1150" i="1" dirty="0">
                <a:solidFill>
                  <a:srgbClr val="F3F7FC"/>
                </a:solidFill>
                <a:latin typeface="Segoe UI" pitchFamily="34" charset="0"/>
                <a:ea typeface="Segoe UI" pitchFamily="34" charset="-122"/>
                <a:cs typeface="Segoe UI" pitchFamily="34" charset="-120"/>
              </a:rPr>
              <a:t>Claimed authority ignored</a:t>
            </a:r>
            <a:endParaRPr lang="en-US" sz="1150" dirty="0"/>
          </a:p>
        </p:txBody>
      </p:sp>
      <p:sp>
        <p:nvSpPr>
          <p:cNvPr id="51" name="Shape 44"/>
          <p:cNvSpPr/>
          <p:nvPr/>
        </p:nvSpPr>
        <p:spPr>
          <a:xfrm>
            <a:off x="1682496" y="5257800"/>
            <a:ext cx="8796528" cy="91"/>
          </a:xfrm>
          <a:prstGeom prst="line">
            <a:avLst/>
          </a:prstGeom>
          <a:noFill/>
          <a:ln w="15875">
            <a:solidFill>
              <a:srgbClr val="52E5FF">
                <a:alpha val="55000"/>
              </a:srgbClr>
            </a:solidFill>
            <a:prstDash val="solid"/>
          </a:ln>
        </p:spPr>
      </p:sp>
      <p:sp>
        <p:nvSpPr>
          <p:cNvPr id="52" name="Shape 45"/>
          <p:cNvSpPr/>
          <p:nvPr/>
        </p:nvSpPr>
        <p:spPr>
          <a:xfrm>
            <a:off x="1682496" y="4800600"/>
            <a:ext cx="91" cy="374904"/>
          </a:xfrm>
          <a:prstGeom prst="line">
            <a:avLst/>
          </a:prstGeom>
          <a:noFill/>
          <a:ln w="12700">
            <a:solidFill>
              <a:srgbClr val="52E5FF">
                <a:alpha val="55000"/>
              </a:srgbClr>
            </a:solidFill>
            <a:prstDash val="dash"/>
          </a:ln>
        </p:spPr>
      </p:sp>
      <p:sp>
        <p:nvSpPr>
          <p:cNvPr id="53" name="Shape 46"/>
          <p:cNvSpPr/>
          <p:nvPr/>
        </p:nvSpPr>
        <p:spPr>
          <a:xfrm>
            <a:off x="1600200" y="5175504"/>
            <a:ext cx="164592" cy="164592"/>
          </a:xfrm>
          <a:prstGeom prst="ellipse">
            <a:avLst/>
          </a:prstGeom>
          <a:solidFill>
            <a:srgbClr val="080B12"/>
          </a:solidFill>
          <a:ln w="25400">
            <a:solidFill>
              <a:srgbClr val="52E5FF"/>
            </a:solidFill>
            <a:prstDash val="solid"/>
          </a:ln>
        </p:spPr>
      </p:sp>
      <p:sp>
        <p:nvSpPr>
          <p:cNvPr id="54" name="Shape 47"/>
          <p:cNvSpPr/>
          <p:nvPr/>
        </p:nvSpPr>
        <p:spPr>
          <a:xfrm>
            <a:off x="3881628" y="4800600"/>
            <a:ext cx="91" cy="374904"/>
          </a:xfrm>
          <a:prstGeom prst="line">
            <a:avLst/>
          </a:prstGeom>
          <a:noFill/>
          <a:ln w="12700">
            <a:solidFill>
              <a:srgbClr val="52E5FF">
                <a:alpha val="55000"/>
              </a:srgbClr>
            </a:solidFill>
            <a:prstDash val="dash"/>
          </a:ln>
        </p:spPr>
      </p:sp>
      <p:sp>
        <p:nvSpPr>
          <p:cNvPr id="55" name="Shape 48"/>
          <p:cNvSpPr/>
          <p:nvPr/>
        </p:nvSpPr>
        <p:spPr>
          <a:xfrm>
            <a:off x="3799332" y="5175504"/>
            <a:ext cx="164592" cy="164592"/>
          </a:xfrm>
          <a:prstGeom prst="ellipse">
            <a:avLst/>
          </a:prstGeom>
          <a:solidFill>
            <a:srgbClr val="080B12"/>
          </a:solidFill>
          <a:ln w="25400">
            <a:solidFill>
              <a:srgbClr val="52E5FF"/>
            </a:solidFill>
            <a:prstDash val="solid"/>
          </a:ln>
        </p:spPr>
      </p:sp>
      <p:sp>
        <p:nvSpPr>
          <p:cNvPr id="56" name="Shape 49"/>
          <p:cNvSpPr/>
          <p:nvPr/>
        </p:nvSpPr>
        <p:spPr>
          <a:xfrm>
            <a:off x="6080760" y="4800600"/>
            <a:ext cx="91" cy="374904"/>
          </a:xfrm>
          <a:prstGeom prst="line">
            <a:avLst/>
          </a:prstGeom>
          <a:noFill/>
          <a:ln w="12700">
            <a:solidFill>
              <a:srgbClr val="FF5C70">
                <a:alpha val="55000"/>
              </a:srgbClr>
            </a:solidFill>
            <a:prstDash val="dash"/>
          </a:ln>
        </p:spPr>
      </p:sp>
      <p:sp>
        <p:nvSpPr>
          <p:cNvPr id="57" name="Shape 50"/>
          <p:cNvSpPr/>
          <p:nvPr/>
        </p:nvSpPr>
        <p:spPr>
          <a:xfrm>
            <a:off x="5998464" y="5175504"/>
            <a:ext cx="164592" cy="164592"/>
          </a:xfrm>
          <a:prstGeom prst="ellipse">
            <a:avLst/>
          </a:prstGeom>
          <a:solidFill>
            <a:srgbClr val="080B12"/>
          </a:solidFill>
          <a:ln w="25400">
            <a:solidFill>
              <a:srgbClr val="FF5C70"/>
            </a:solidFill>
            <a:prstDash val="solid"/>
          </a:ln>
        </p:spPr>
      </p:sp>
      <p:sp>
        <p:nvSpPr>
          <p:cNvPr id="58" name="Shape 51"/>
          <p:cNvSpPr/>
          <p:nvPr/>
        </p:nvSpPr>
        <p:spPr>
          <a:xfrm>
            <a:off x="8279892" y="4800600"/>
            <a:ext cx="91" cy="374904"/>
          </a:xfrm>
          <a:prstGeom prst="line">
            <a:avLst/>
          </a:prstGeom>
          <a:noFill/>
          <a:ln w="12700">
            <a:solidFill>
              <a:srgbClr val="FFBF69">
                <a:alpha val="55000"/>
              </a:srgbClr>
            </a:solidFill>
            <a:prstDash val="dash"/>
          </a:ln>
        </p:spPr>
      </p:sp>
      <p:sp>
        <p:nvSpPr>
          <p:cNvPr id="59" name="Shape 52"/>
          <p:cNvSpPr/>
          <p:nvPr/>
        </p:nvSpPr>
        <p:spPr>
          <a:xfrm>
            <a:off x="8197596" y="5175504"/>
            <a:ext cx="164592" cy="164592"/>
          </a:xfrm>
          <a:prstGeom prst="ellipse">
            <a:avLst/>
          </a:prstGeom>
          <a:solidFill>
            <a:srgbClr val="080B12"/>
          </a:solidFill>
          <a:ln w="25400">
            <a:solidFill>
              <a:srgbClr val="FFBF69"/>
            </a:solidFill>
            <a:prstDash val="solid"/>
          </a:ln>
        </p:spPr>
      </p:sp>
      <p:sp>
        <p:nvSpPr>
          <p:cNvPr id="60" name="Shape 53"/>
          <p:cNvSpPr/>
          <p:nvPr/>
        </p:nvSpPr>
        <p:spPr>
          <a:xfrm>
            <a:off x="10479024" y="4800600"/>
            <a:ext cx="91" cy="374904"/>
          </a:xfrm>
          <a:prstGeom prst="line">
            <a:avLst/>
          </a:prstGeom>
          <a:noFill/>
          <a:ln w="12700">
            <a:solidFill>
              <a:srgbClr val="FF5C70">
                <a:alpha val="55000"/>
              </a:srgbClr>
            </a:solidFill>
            <a:prstDash val="dash"/>
          </a:ln>
        </p:spPr>
      </p:sp>
      <p:sp>
        <p:nvSpPr>
          <p:cNvPr id="61" name="Shape 54"/>
          <p:cNvSpPr/>
          <p:nvPr/>
        </p:nvSpPr>
        <p:spPr>
          <a:xfrm>
            <a:off x="10396728" y="5175504"/>
            <a:ext cx="164592" cy="164592"/>
          </a:xfrm>
          <a:prstGeom prst="ellipse">
            <a:avLst/>
          </a:prstGeom>
          <a:solidFill>
            <a:srgbClr val="080B12"/>
          </a:solidFill>
          <a:ln w="25400">
            <a:solidFill>
              <a:srgbClr val="FF5C70"/>
            </a:solidFill>
            <a:prstDash val="solid"/>
          </a:ln>
        </p:spPr>
      </p:sp>
      <p:sp>
        <p:nvSpPr>
          <p:cNvPr id="62" name="Text 55"/>
          <p:cNvSpPr txBox="1"/>
          <p:nvPr/>
        </p:nvSpPr>
        <p:spPr>
          <a:xfrm>
            <a:off x="640080" y="5440680"/>
            <a:ext cx="10881360" cy="292608"/>
          </a:xfrm>
          <a:prstGeom prst="rect">
            <a:avLst/>
          </a:prstGeom>
          <a:noFill/>
          <a:ln/>
        </p:spPr>
        <p:txBody>
          <a:bodyPr wrap="square" lIns="0" tIns="0" rIns="0" bIns="0" rtlCol="0" anchor="ctr"/>
          <a:lstStyle/>
          <a:p>
            <a:pPr algn="ctr" indent="0" marL="0">
              <a:buNone/>
            </a:pPr>
            <a:r>
              <a:rPr lang="en-US" sz="1300" dirty="0">
                <a:solidFill>
                  <a:srgbClr val="F3F7FC"/>
                </a:solidFill>
                <a:latin typeface="Segoe UI" pitchFamily="34" charset="0"/>
                <a:ea typeface="Segoe UI" pitchFamily="34" charset="-122"/>
                <a:cs typeface="Segoe UI" pitchFamily="34" charset="-120"/>
              </a:rPr>
              <a:t>Audit trail: every decision and outcome is recorded with an audit reference, inspectable afterwards.</a:t>
            </a:r>
            <a:endParaRPr lang="en-US" sz="1300" dirty="0"/>
          </a:p>
        </p:txBody>
      </p:sp>
      <p:sp>
        <p:nvSpPr>
          <p:cNvPr id="63" name="Text 56"/>
          <p:cNvSpPr txBox="1"/>
          <p:nvPr/>
        </p:nvSpPr>
        <p:spPr>
          <a:xfrm>
            <a:off x="640080" y="5989320"/>
            <a:ext cx="10881360" cy="274320"/>
          </a:xfrm>
          <a:prstGeom prst="rect">
            <a:avLst/>
          </a:prstGeom>
          <a:noFill/>
          <a:ln/>
        </p:spPr>
        <p:txBody>
          <a:bodyPr wrap="square" lIns="0" tIns="0" rIns="0" bIns="0" rtlCol="0" anchor="ctr"/>
          <a:lstStyle/>
          <a:p>
            <a:pPr algn="ctr" indent="0" marL="0">
              <a:buNone/>
            </a:pPr>
            <a:r>
              <a:rPr lang="en-US" sz="1050" i="1" dirty="0">
                <a:solidFill>
                  <a:srgbClr val="8795A8"/>
                </a:solidFill>
                <a:latin typeface="Segoe UI" pitchFamily="34" charset="0"/>
                <a:ea typeface="Segoe UI" pitchFamily="34" charset="-122"/>
                <a:cs typeface="Segoe UI" pitchFamily="34" charset="-120"/>
              </a:rPr>
              <a:t>Expected outcomes, validated through WARDEN's own chat pipeline before the demo. The live ASI:One run is the evidence.</a:t>
            </a:r>
            <a:endParaRPr lang="en-US" sz="1050" dirty="0"/>
          </a:p>
        </p:txBody>
      </p:sp>
      <p:sp>
        <p:nvSpPr>
          <p:cNvPr id="25" name="Slide Number Placeholder 0"/>
          <p:cNvSpPr>
            <a:spLocks noGrp="1"/>
          </p:cNvSpPr>
          <p:nvPr>
            <p:ph type="sldNum" sz="quarter" idx="4294967295"/>
          </p:nvPr>
        </p:nvSpPr>
        <p:spPr>
          <a:xfrm>
            <a:off x="1106424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384048"/>
            <a:ext cx="7315200" cy="292608"/>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nsolas" pitchFamily="34" charset="0"/>
                <a:ea typeface="Consolas" pitchFamily="34" charset="-122"/>
                <a:cs typeface="Consolas" pitchFamily="34" charset="-120"/>
              </a:rPr>
              <a:t>05 · THE PAYOFF</a:t>
            </a:r>
            <a:endParaRPr lang="en-US" sz="1200" dirty="0"/>
          </a:p>
        </p:txBody>
      </p:sp>
      <p:sp>
        <p:nvSpPr>
          <p:cNvPr id="3" name="Text 0"/>
          <p:cNvSpPr/>
          <p:nvPr>
            <p:ph idx="101" type="title" hasCustomPrompt="1"/>
          </p:nvPr>
        </p:nvSpPr>
        <p:spPr>
          <a:xfrm>
            <a:off x="640080" y="694944"/>
            <a:ext cx="10881360" cy="713232"/>
          </a:xfrm>
          <a:prstGeom prst="rect">
            <a:avLst/>
          </a:prstGeom>
          <a:noFill/>
          <a:ln/>
        </p:spPr>
        <p:txBody>
          <a:bodyPr wrap="square" lIns="0" tIns="0" rIns="0" bIns="0" rtlCol="0" anchor="ctr"/>
          <a:lstStyle/>
          <a:p>
            <a:pPr algn="l" indent="0" marL="0">
              <a:buNone/>
            </a:pPr>
            <a:r>
              <a:rPr lang="en-US" sz="3200" dirty="0">
                <a:solidFill>
                  <a:schemeClr val="bg1"/>
                </a:solidFill>
                <a:latin typeface="Segoe UI Semibold" pitchFamily="34" charset="0"/>
                <a:ea typeface="Segoe UI Semibold" pitchFamily="34" charset="-122"/>
                <a:cs typeface="Segoe UI Semibold" pitchFamily="34" charset="-120"/>
              </a:rPr>
              <a:t>Trust should be earned by the workflow</a:t>
            </a:r>
            <a:endParaRPr lang="en-US" sz="3200" dirty="0"/>
          </a:p>
        </p:txBody>
      </p:sp>
      <p:sp>
        <p:nvSpPr>
          <p:cNvPr id="4" name="Shape 2"/>
          <p:cNvSpPr/>
          <p:nvPr/>
        </p:nvSpPr>
        <p:spPr>
          <a:xfrm>
            <a:off x="6637685" y="2959915"/>
            <a:ext cx="745125" cy="801010"/>
          </a:xfrm>
          <a:prstGeom prst="line">
            <a:avLst/>
          </a:prstGeom>
          <a:noFill/>
          <a:ln w="25400">
            <a:solidFill>
              <a:srgbClr val="52E5FF">
                <a:alpha val="90000"/>
              </a:srgbClr>
            </a:solidFill>
            <a:prstDash val="solid"/>
            <a:tailEnd type="triangle"/>
          </a:ln>
        </p:spPr>
      </p:sp>
      <p:sp>
        <p:nvSpPr>
          <p:cNvPr id="5" name="Shape 3"/>
          <p:cNvSpPr/>
          <p:nvPr/>
        </p:nvSpPr>
        <p:spPr>
          <a:xfrm flipH="1">
            <a:off x="5062576" y="4343400"/>
            <a:ext cx="2066544" cy="91"/>
          </a:xfrm>
          <a:prstGeom prst="line">
            <a:avLst/>
          </a:prstGeom>
          <a:noFill/>
          <a:ln w="25400">
            <a:solidFill>
              <a:srgbClr val="FFBF69">
                <a:alpha val="90000"/>
              </a:srgbClr>
            </a:solidFill>
            <a:prstDash val="solid"/>
            <a:tailEnd type="triangle"/>
          </a:ln>
        </p:spPr>
      </p:sp>
      <p:sp>
        <p:nvSpPr>
          <p:cNvPr id="6" name="Shape 4"/>
          <p:cNvSpPr/>
          <p:nvPr/>
        </p:nvSpPr>
        <p:spPr>
          <a:xfrm flipV="1">
            <a:off x="4808885" y="2959915"/>
            <a:ext cx="745125" cy="801010"/>
          </a:xfrm>
          <a:prstGeom prst="line">
            <a:avLst/>
          </a:prstGeom>
          <a:noFill/>
          <a:ln w="25400">
            <a:solidFill>
              <a:srgbClr val="52E5FF">
                <a:alpha val="90000"/>
              </a:srgbClr>
            </a:solidFill>
            <a:prstDash val="solid"/>
            <a:tailEnd type="triangle"/>
          </a:ln>
        </p:spPr>
      </p:sp>
      <p:pic>
        <p:nvPicPr>
          <p:cNvPr id="7" name="Image 0" descr="WARDEN sentinel mark">    </p:cNvPr>
          <p:cNvPicPr>
            <a:picLocks noChangeAspect="1"/>
          </p:cNvPicPr>
          <p:nvPr/>
        </p:nvPicPr>
        <p:blipFill>
          <a:blip r:embed="rId2"/>
          <a:stretch>
            <a:fillRect/>
          </a:stretch>
        </p:blipFill>
        <p:spPr>
          <a:xfrm>
            <a:off x="5592928" y="3154680"/>
            <a:ext cx="1005840" cy="1005840"/>
          </a:xfrm>
          <a:prstGeom prst="rect">
            <a:avLst/>
          </a:prstGeom>
        </p:spPr>
      </p:pic>
      <p:sp>
        <p:nvSpPr>
          <p:cNvPr id="8" name="Shape 5"/>
          <p:cNvSpPr/>
          <p:nvPr/>
        </p:nvSpPr>
        <p:spPr>
          <a:xfrm>
            <a:off x="5410048" y="1691640"/>
            <a:ext cx="1371600" cy="1371600"/>
          </a:xfrm>
          <a:prstGeom prst="ellipse">
            <a:avLst/>
          </a:prstGeom>
          <a:solidFill>
            <a:srgbClr val="52E5FF">
              <a:alpha val="18000"/>
            </a:srgbClr>
          </a:solidFill>
          <a:ln w="15875">
            <a:solidFill>
              <a:srgbClr val="52E5FF">
                <a:alpha val="80000"/>
              </a:srgbClr>
            </a:solidFill>
            <a:prstDash val="solid"/>
          </a:ln>
        </p:spPr>
      </p:sp>
      <p:pic>
        <p:nvPicPr>
          <p:cNvPr id="9" name="Image 1" descr="ENFORCE">    </p:cNvPr>
          <p:cNvPicPr>
            <a:picLocks noChangeAspect="1"/>
          </p:cNvPicPr>
          <p:nvPr/>
        </p:nvPicPr>
        <p:blipFill>
          <a:blip r:embed="rId3"/>
          <a:stretch>
            <a:fillRect/>
          </a:stretch>
        </p:blipFill>
        <p:spPr>
          <a:xfrm>
            <a:off x="5752948" y="2034540"/>
            <a:ext cx="685800" cy="685800"/>
          </a:xfrm>
          <a:prstGeom prst="rect">
            <a:avLst/>
          </a:prstGeom>
        </p:spPr>
      </p:pic>
      <p:sp>
        <p:nvSpPr>
          <p:cNvPr id="10" name="Text 6"/>
          <p:cNvSpPr txBox="1"/>
          <p:nvPr/>
        </p:nvSpPr>
        <p:spPr>
          <a:xfrm>
            <a:off x="7010248" y="1965960"/>
            <a:ext cx="2743200" cy="384048"/>
          </a:xfrm>
          <a:prstGeom prst="rect">
            <a:avLst/>
          </a:prstGeom>
          <a:noFill/>
          <a:ln/>
        </p:spPr>
        <p:txBody>
          <a:bodyPr wrap="square" lIns="0" tIns="0" rIns="0" bIns="0" rtlCol="0" anchor="ctr"/>
          <a:lstStyle/>
          <a:p>
            <a:pPr algn="l" indent="0" marL="0">
              <a:buNone/>
            </a:pPr>
            <a:r>
              <a:rPr lang="en-US" sz="1800" spc="300" kern="0" dirty="0">
                <a:solidFill>
                  <a:srgbClr val="52E5FF"/>
                </a:solidFill>
                <a:latin typeface="Bahnschrift SemiBold" pitchFamily="34" charset="0"/>
                <a:ea typeface="Bahnschrift SemiBold" pitchFamily="34" charset="-122"/>
                <a:cs typeface="Bahnschrift SemiBold" pitchFamily="34" charset="-120"/>
              </a:rPr>
              <a:t>ENFORCE</a:t>
            </a:r>
            <a:endParaRPr lang="en-US" sz="1800" dirty="0"/>
          </a:p>
        </p:txBody>
      </p:sp>
      <p:sp>
        <p:nvSpPr>
          <p:cNvPr id="11" name="Text 7"/>
          <p:cNvSpPr txBox="1"/>
          <p:nvPr/>
        </p:nvSpPr>
        <p:spPr>
          <a:xfrm>
            <a:off x="7010248" y="2395728"/>
            <a:ext cx="2743200" cy="566928"/>
          </a:xfrm>
          <a:prstGeom prst="rect">
            <a:avLst/>
          </a:prstGeom>
          <a:noFill/>
          <a:ln/>
        </p:spPr>
        <p:txBody>
          <a:bodyPr wrap="square" lIns="0" tIns="0" rIns="0" bIns="0" rtlCol="0" anchor="t"/>
          <a:lstStyle/>
          <a:p>
            <a:pPr algn="l" indent="0" marL="0">
              <a:buNone/>
            </a:pPr>
            <a:r>
              <a:rPr lang="en-US" sz="1300" dirty="0">
                <a:solidFill>
                  <a:srgbClr val="F3F7FC"/>
                </a:solidFill>
                <a:latin typeface="Segoe UI" pitchFamily="34" charset="0"/>
                <a:ea typeface="Segoe UI" pitchFamily="34" charset="-122"/>
                <a:cs typeface="Segoe UI" pitchFamily="34" charset="-120"/>
              </a:rPr>
              <a:t>Deterministic policy decisions and restricted execution</a:t>
            </a:r>
            <a:endParaRPr lang="en-US" sz="1300" dirty="0"/>
          </a:p>
        </p:txBody>
      </p:sp>
      <p:sp>
        <p:nvSpPr>
          <p:cNvPr id="12" name="Shape 8"/>
          <p:cNvSpPr/>
          <p:nvPr/>
        </p:nvSpPr>
        <p:spPr>
          <a:xfrm>
            <a:off x="7238848" y="3657600"/>
            <a:ext cx="1371600" cy="1371600"/>
          </a:xfrm>
          <a:prstGeom prst="ellipse">
            <a:avLst/>
          </a:prstGeom>
          <a:solidFill>
            <a:srgbClr val="FFBF69">
              <a:alpha val="18000"/>
            </a:srgbClr>
          </a:solidFill>
          <a:ln w="15875">
            <a:solidFill>
              <a:srgbClr val="FFBF69">
                <a:alpha val="80000"/>
              </a:srgbClr>
            </a:solidFill>
            <a:prstDash val="solid"/>
          </a:ln>
        </p:spPr>
      </p:sp>
      <p:pic>
        <p:nvPicPr>
          <p:cNvPr id="13" name="Image 2" descr="HUMAN OVERSIGHT">    </p:cNvPr>
          <p:cNvPicPr>
            <a:picLocks noChangeAspect="1"/>
          </p:cNvPicPr>
          <p:nvPr/>
        </p:nvPicPr>
        <p:blipFill>
          <a:blip r:embed="rId4"/>
          <a:stretch>
            <a:fillRect/>
          </a:stretch>
        </p:blipFill>
        <p:spPr>
          <a:xfrm>
            <a:off x="7581748" y="4000500"/>
            <a:ext cx="685800" cy="685800"/>
          </a:xfrm>
          <a:prstGeom prst="rect">
            <a:avLst/>
          </a:prstGeom>
        </p:spPr>
      </p:pic>
      <p:sp>
        <p:nvSpPr>
          <p:cNvPr id="14" name="Text 9"/>
          <p:cNvSpPr txBox="1"/>
          <p:nvPr/>
        </p:nvSpPr>
        <p:spPr>
          <a:xfrm>
            <a:off x="8839048" y="3931920"/>
            <a:ext cx="2743200" cy="384048"/>
          </a:xfrm>
          <a:prstGeom prst="rect">
            <a:avLst/>
          </a:prstGeom>
          <a:noFill/>
          <a:ln/>
        </p:spPr>
        <p:txBody>
          <a:bodyPr wrap="square" lIns="0" tIns="0" rIns="0" bIns="0" rtlCol="0" anchor="ctr"/>
          <a:lstStyle/>
          <a:p>
            <a:pPr algn="l" indent="0" marL="0">
              <a:buNone/>
            </a:pPr>
            <a:r>
              <a:rPr lang="en-US" sz="1800" spc="300" kern="0" dirty="0">
                <a:solidFill>
                  <a:srgbClr val="FFBF69"/>
                </a:solidFill>
                <a:latin typeface="Bahnschrift SemiBold" pitchFamily="34" charset="0"/>
                <a:ea typeface="Bahnschrift SemiBold" pitchFamily="34" charset="-122"/>
                <a:cs typeface="Bahnschrift SemiBold" pitchFamily="34" charset="-120"/>
              </a:rPr>
              <a:t>HUMAN OVERSIGHT</a:t>
            </a:r>
            <a:endParaRPr lang="en-US" sz="1800" dirty="0"/>
          </a:p>
        </p:txBody>
      </p:sp>
      <p:sp>
        <p:nvSpPr>
          <p:cNvPr id="15" name="Text 10"/>
          <p:cNvSpPr txBox="1"/>
          <p:nvPr/>
        </p:nvSpPr>
        <p:spPr>
          <a:xfrm>
            <a:off x="8839048" y="4361688"/>
            <a:ext cx="2743200" cy="566928"/>
          </a:xfrm>
          <a:prstGeom prst="rect">
            <a:avLst/>
          </a:prstGeom>
          <a:noFill/>
          <a:ln/>
        </p:spPr>
        <p:txBody>
          <a:bodyPr wrap="square" lIns="0" tIns="0" rIns="0" bIns="0" rtlCol="0" anchor="t"/>
          <a:lstStyle/>
          <a:p>
            <a:pPr algn="l" indent="0" marL="0">
              <a:buNone/>
            </a:pPr>
            <a:r>
              <a:rPr lang="en-US" sz="1300" dirty="0">
                <a:solidFill>
                  <a:srgbClr val="F3F7FC"/>
                </a:solidFill>
                <a:latin typeface="Segoe UI" pitchFamily="34" charset="0"/>
                <a:ea typeface="Segoe UI" pitchFamily="34" charset="-122"/>
                <a:cs typeface="Segoe UI" pitchFamily="34" charset="-120"/>
              </a:rPr>
              <a:t>Approval gates for actions that need a human</a:t>
            </a:r>
            <a:endParaRPr lang="en-US" sz="1300" dirty="0"/>
          </a:p>
        </p:txBody>
      </p:sp>
      <p:sp>
        <p:nvSpPr>
          <p:cNvPr id="16" name="Shape 11"/>
          <p:cNvSpPr/>
          <p:nvPr/>
        </p:nvSpPr>
        <p:spPr>
          <a:xfrm>
            <a:off x="3581248" y="3657600"/>
            <a:ext cx="1371600" cy="1371600"/>
          </a:xfrm>
          <a:prstGeom prst="ellipse">
            <a:avLst/>
          </a:prstGeom>
          <a:solidFill>
            <a:srgbClr val="52E5FF">
              <a:alpha val="18000"/>
            </a:srgbClr>
          </a:solidFill>
          <a:ln w="15875">
            <a:solidFill>
              <a:srgbClr val="52E5FF">
                <a:alpha val="80000"/>
              </a:srgbClr>
            </a:solidFill>
            <a:prstDash val="solid"/>
          </a:ln>
        </p:spPr>
      </p:sp>
      <p:pic>
        <p:nvPicPr>
          <p:cNvPr id="17" name="Image 3" descr="VERIFY">    </p:cNvPr>
          <p:cNvPicPr>
            <a:picLocks noChangeAspect="1"/>
          </p:cNvPicPr>
          <p:nvPr/>
        </p:nvPicPr>
        <p:blipFill>
          <a:blip r:embed="rId5"/>
          <a:stretch>
            <a:fillRect/>
          </a:stretch>
        </p:blipFill>
        <p:spPr>
          <a:xfrm>
            <a:off x="3924148" y="4000500"/>
            <a:ext cx="685800" cy="685800"/>
          </a:xfrm>
          <a:prstGeom prst="rect">
            <a:avLst/>
          </a:prstGeom>
        </p:spPr>
      </p:pic>
      <p:sp>
        <p:nvSpPr>
          <p:cNvPr id="18" name="Text 12"/>
          <p:cNvSpPr txBox="1"/>
          <p:nvPr/>
        </p:nvSpPr>
        <p:spPr>
          <a:xfrm>
            <a:off x="609448" y="3931920"/>
            <a:ext cx="2743200" cy="384048"/>
          </a:xfrm>
          <a:prstGeom prst="rect">
            <a:avLst/>
          </a:prstGeom>
          <a:noFill/>
          <a:ln/>
        </p:spPr>
        <p:txBody>
          <a:bodyPr wrap="square" lIns="0" tIns="0" rIns="0" bIns="0" rtlCol="0" anchor="ctr"/>
          <a:lstStyle/>
          <a:p>
            <a:pPr algn="r" indent="0" marL="0">
              <a:buNone/>
            </a:pPr>
            <a:r>
              <a:rPr lang="en-US" sz="1800" spc="300" kern="0" dirty="0">
                <a:solidFill>
                  <a:srgbClr val="52E5FF"/>
                </a:solidFill>
                <a:latin typeface="Bahnschrift SemiBold" pitchFamily="34" charset="0"/>
                <a:ea typeface="Bahnschrift SemiBold" pitchFamily="34" charset="-122"/>
                <a:cs typeface="Bahnschrift SemiBold" pitchFamily="34" charset="-120"/>
              </a:rPr>
              <a:t>VERIFY</a:t>
            </a:r>
            <a:endParaRPr lang="en-US" sz="1800" dirty="0"/>
          </a:p>
        </p:txBody>
      </p:sp>
      <p:sp>
        <p:nvSpPr>
          <p:cNvPr id="19" name="Text 13"/>
          <p:cNvSpPr txBox="1"/>
          <p:nvPr/>
        </p:nvSpPr>
        <p:spPr>
          <a:xfrm>
            <a:off x="609448" y="4361688"/>
            <a:ext cx="2743200" cy="566928"/>
          </a:xfrm>
          <a:prstGeom prst="rect">
            <a:avLst/>
          </a:prstGeom>
          <a:noFill/>
          <a:ln/>
        </p:spPr>
        <p:txBody>
          <a:bodyPr wrap="square" lIns="0" tIns="0" rIns="0" bIns="0" rtlCol="0" anchor="t"/>
          <a:lstStyle/>
          <a:p>
            <a:pPr algn="r" indent="0" marL="0">
              <a:buNone/>
            </a:pPr>
            <a:r>
              <a:rPr lang="en-US" sz="1300" dirty="0">
                <a:solidFill>
                  <a:srgbClr val="F3F7FC"/>
                </a:solidFill>
                <a:latin typeface="Segoe UI" pitchFamily="34" charset="0"/>
                <a:ea typeface="Segoe UI" pitchFamily="34" charset="-122"/>
                <a:cs typeface="Segoe UI" pitchFamily="34" charset="-120"/>
              </a:rPr>
              <a:t>Inspect resulting state and recorded audit events</a:t>
            </a:r>
            <a:endParaRPr lang="en-US" sz="1300" dirty="0"/>
          </a:p>
        </p:txBody>
      </p:sp>
      <p:sp>
        <p:nvSpPr>
          <p:cNvPr id="20" name="Text 14"/>
          <p:cNvSpPr txBox="1"/>
          <p:nvPr/>
        </p:nvSpPr>
        <p:spPr>
          <a:xfrm>
            <a:off x="640080" y="5559552"/>
            <a:ext cx="10881360" cy="502920"/>
          </a:xfrm>
          <a:prstGeom prst="rect">
            <a:avLst/>
          </a:prstGeom>
          <a:noFill/>
          <a:ln/>
        </p:spPr>
        <p:txBody>
          <a:bodyPr wrap="square" lIns="0" tIns="0" rIns="0" bIns="0" rtlCol="0" anchor="ctr"/>
          <a:lstStyle/>
          <a:p>
            <a:pPr algn="ctr" indent="0" marL="0">
              <a:buNone/>
            </a:pPr>
            <a:r>
              <a:rPr lang="en-US" sz="2400" dirty="0">
                <a:solidFill>
                  <a:srgbClr val="F3F7FC"/>
                </a:solidFill>
                <a:latin typeface="Segoe UI Semibold" pitchFamily="34" charset="0"/>
                <a:ea typeface="Segoe UI Semibold" pitchFamily="34" charset="-122"/>
                <a:cs typeface="Segoe UI Semibold" pitchFamily="34" charset="-120"/>
              </a:rPr>
              <a:t>Useful autonomy.  </a:t>
            </a:r>
            <a:pPr algn="ctr" indent="0" marL="0">
              <a:buNone/>
            </a:pPr>
            <a:r>
              <a:rPr lang="en-US" sz="2400" dirty="0">
                <a:solidFill>
                  <a:srgbClr val="52E5FF"/>
                </a:solidFill>
                <a:latin typeface="Segoe UI Semibold" pitchFamily="34" charset="0"/>
                <a:ea typeface="Segoe UI Semibold" pitchFamily="34" charset="-122"/>
                <a:cs typeface="Segoe UI Semibold" pitchFamily="34" charset="-120"/>
              </a:rPr>
              <a:t>Enforceable boundaries.  </a:t>
            </a:r>
            <a:pPr algn="ctr" indent="0" marL="0">
              <a:buNone/>
            </a:pPr>
            <a:r>
              <a:rPr lang="en-US" sz="2400" dirty="0">
                <a:solidFill>
                  <a:srgbClr val="F3F7FC"/>
                </a:solidFill>
                <a:latin typeface="Segoe UI Semibold" pitchFamily="34" charset="0"/>
                <a:ea typeface="Segoe UI Semibold" pitchFamily="34" charset="-122"/>
                <a:cs typeface="Segoe UI Semibold" pitchFamily="34" charset="-120"/>
              </a:rPr>
              <a:t>Verifiable outcomes.</a:t>
            </a:r>
            <a:endParaRPr lang="en-US" sz="2400" dirty="0"/>
          </a:p>
        </p:txBody>
      </p:sp>
      <p:sp>
        <p:nvSpPr>
          <p:cNvPr id="21" name="Text 15"/>
          <p:cNvSpPr txBox="1"/>
          <p:nvPr/>
        </p:nvSpPr>
        <p:spPr>
          <a:xfrm>
            <a:off x="5852160" y="6382512"/>
            <a:ext cx="5120640" cy="274320"/>
          </a:xfrm>
          <a:prstGeom prst="rect">
            <a:avLst/>
          </a:prstGeom>
          <a:noFill/>
          <a:ln/>
        </p:spPr>
        <p:txBody>
          <a:bodyPr wrap="square" lIns="0" tIns="0" rIns="0" bIns="0" rtlCol="0" anchor="ctr"/>
          <a:lstStyle/>
          <a:p>
            <a:pPr algn="r" indent="0" marL="0">
              <a:buNone/>
            </a:pPr>
            <a:r>
              <a:rPr lang="en-US" sz="1100" dirty="0">
                <a:solidFill>
                  <a:srgbClr val="8795A8"/>
                </a:solidFill>
                <a:latin typeface="Segoe UI" pitchFamily="34" charset="0"/>
                <a:ea typeface="Segoe UI" pitchFamily="34" charset="-122"/>
                <a:cs typeface="Segoe UI" pitchFamily="34" charset="-120"/>
              </a:rPr>
              <a:t>Yukith M Joseph  ·  Pranathi Nagabhushana</a:t>
            </a:r>
            <a:endParaRPr lang="en-US" sz="1100" dirty="0"/>
          </a:p>
        </p:txBody>
      </p:sp>
      <p:sp>
        <p:nvSpPr>
          <p:cNvPr id="25" name="Slide Number Placeholder 0"/>
          <p:cNvSpPr>
            <a:spLocks noGrp="1"/>
          </p:cNvSpPr>
          <p:nvPr>
            <p:ph type="sldNum" sz="quarter" idx="4294967295"/>
          </p:nvPr>
        </p:nvSpPr>
        <p:spPr>
          <a:xfrm>
            <a:off x="11064240"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WARDEN Sentinel">
  <a:themeElements>
    <a:clrScheme name="WARDEN Sentinel">
      <a:dk1>
        <a:srgbClr val="080B12"/>
      </a:dk1>
      <a:lt1>
        <a:srgbClr val="F3F7FC"/>
      </a:lt1>
      <a:dk2>
        <a:srgbClr val="101827"/>
      </a:dk2>
      <a:lt2>
        <a:srgbClr val="8795A8"/>
      </a:lt2>
      <a:accent1>
        <a:srgbClr val="52E5FF"/>
      </a:accent1>
      <a:accent2>
        <a:srgbClr val="FFBF69"/>
      </a:accent2>
      <a:accent3>
        <a:srgbClr val="FF5C70"/>
      </a:accent3>
      <a:accent4>
        <a:srgbClr val="8795A8"/>
      </a:accent4>
      <a:accent5>
        <a:srgbClr val="1B2A3F"/>
      </a:accent5>
      <a:accent6>
        <a:srgbClr val="2B3D57"/>
      </a:accent6>
      <a:hlink>
        <a:srgbClr val="52E5FF"/>
      </a:hlink>
      <a:folHlink>
        <a:srgbClr val="8795A8"/>
      </a:folHlink>
    </a:clrScheme>
    <a:fontScheme name="WARDEN Sentinel">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WARDEN — Autonomous Agent Action Control &amp; Verification</dc:title>
  <dc:subject>WARDEN hackathon presentation</dc:subject>
  <dc:creator>Yukith M Joseph, Pranathi Nagabhushana</dc:creator>
  <cp:lastModifiedBy>Yukith M Joseph, Pranathi Nagabhushana</cp:lastModifiedBy>
  <cp:revision>1</cp:revision>
  <dcterms:created xsi:type="dcterms:W3CDTF">2026-10-24T21:42:31Z</dcterms:created>
  <dcterms:modified xsi:type="dcterms:W3CDTF">2026-10-24T21:42:31Z</dcterms:modified>
</cp:coreProperties>
</file>